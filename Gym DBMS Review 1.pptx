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my Review 1 for the Gym Membership and Fitness Session Management System — the design of a relational database taken from requirements through the ER model to an initial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centres run on spreadsheets and paper. Three failures repeat: expiries slip by, classes overbook, and records scatter across files. A single database with rules built in fixes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covers the full member lifecycle plus trainers, classes, equipment and money. The objectives are the four things the database must actually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user roles, each with its own view of the system, and the functional modules the database has to support underneath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entities, grouped into three domains — the membership side, the training side, and operations. These become the tables of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ER model, read from the central Member entity outwards. Entities are grouped into three domains — membership, training and operations — and Subscription, Assessment and Registration are associative (junction) entities, shown with a dashed inner border, which exist only to link two other entities. MEMBERSHIP: a Member (member_id, name, phone, email, date of birth, join date) takes out a Subscription, which is the junction between a Member and a Plan — one member holds many subscriptions over time and one plan is chosen by many subscriptions, so both are one-to-many into Subscription. The Subscription carries start date, end date and status, and is the parent of two records — Payment (amount, method, paid-on date) and Renewal (renewal date, new end date) — each one-to-many from Subscription. TRAINING: a Trainer (trainer_id, name, specialization, shift) leads many Classes and conducts many Assessments. A Class (class_id, title, capacity, room) is offered as many Schedules (day, start time, end time), so Class-to-Schedule is one-to-many. An Assessment (date, weight, BMI, body-fat) is the junction between a Member and a Trainer — both one-to-many into it — and a Member also follows one or more Workout Programmes. OPERATIONS: the key many-to-many is Member-to-Class — a member joins many classes and a class holds many members — resolved through the Registration junction, which links a Member to a specific Schedule with a booking date and status. Each Registration then has a one-to-one Attendance record capturing check-in and check-out. Finally, Equipment (name, category, purchase date, status) has many Maintenance logs (service date, cost) — a one-to-many that is independent of the member-facing side. The panel on the right summarises all nine major relationships with their cardinalities.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attributes of each core entity, with the primary key underlined. These are the columns that carry into the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model converted to relational tables. Each has a primary key, and foreign keys wire the relationships together. The remaining tables follow the same pattern. Everything is normalized to third normal form, with the integrity and business constraints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Review 1 — problem and scope, users and requirements, the ER model, entities and attributes, and the initial relational schema.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2000"/>
                </a:srgbClr>
              </a:gs>
              <a:gs pos="66000">
                <a:srgbClr val="825FFF">
                  <a:alpha val="0"/>
                </a:srgbClr>
              </a:gs>
            </a:gsLst>
            <a:path path="circle">
              <a:fillToRect l="18000" t="22000" r="82000" b="78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2121429"/>
            <a:ext cx="17769840" cy="283633"/>
          </a:xfrm>
          <a:prstGeom prst="rect">
            <a:avLst/>
          </a:prstGeom>
          <a:noFill/>
          <a:ln/>
        </p:spPr>
        <p:txBody>
          <a:bodyPr wrap="square" lIns="25400" tIns="25400" rIns="25400" bIns="25400" rtlCol="0" anchor="t">
            <a:normAutofit/>
          </a:bodyPr>
          <a:lstStyle/>
          <a:p>
            <a:pPr algn="l" indent="0" marL="0">
              <a:buNone/>
            </a:pPr>
            <a:r>
              <a:rPr lang="en-US" sz="1575" b="1" spc="410" kern="0" dirty="0">
                <a:solidFill>
                  <a:srgbClr val="CFC9FF"/>
                </a:solidFill>
                <a:latin typeface="Inter" pitchFamily="34" charset="0"/>
                <a:ea typeface="Inter" pitchFamily="34" charset="-122"/>
                <a:cs typeface="Inter" pitchFamily="34" charset="-120"/>
              </a:rPr>
              <a:t>DATABASE MANAGEMENT SYSTEMS · REVIEW 1</a:t>
            </a:r>
            <a:endParaRPr lang="en-US" sz="1575" dirty="0"/>
          </a:p>
        </p:txBody>
      </p:sp>
      <p:sp>
        <p:nvSpPr>
          <p:cNvPr id="5" name="Text 3"/>
          <p:cNvSpPr/>
          <p:nvPr/>
        </p:nvSpPr>
        <p:spPr>
          <a:xfrm>
            <a:off x="1066800" y="2614613"/>
            <a:ext cx="13146405" cy="2527300"/>
          </a:xfrm>
          <a:prstGeom prst="rect">
            <a:avLst/>
          </a:prstGeom>
          <a:noFill/>
          <a:ln/>
        </p:spPr>
        <p:txBody>
          <a:bodyPr wrap="square" lIns="25400" tIns="25400" rIns="25400" bIns="25400" rtlCol="0" anchor="t">
            <a:normAutofit/>
          </a:bodyPr>
          <a:lstStyle/>
          <a:p>
            <a:pPr algn="l" indent="0" marL="0">
              <a:lnSpc>
                <a:spcPct val="73692"/>
              </a:lnSpc>
              <a:buNone/>
            </a:pPr>
            <a:r>
              <a:rPr lang="en-US" sz="6600" b="1" spc="-99" kern="0" dirty="0">
                <a:solidFill>
                  <a:srgbClr val="F3F0E7"/>
                </a:solidFill>
                <a:latin typeface="Archivo Black" pitchFamily="34" charset="0"/>
                <a:ea typeface="Archivo Black" pitchFamily="34" charset="-122"/>
                <a:cs typeface="Archivo Black" pitchFamily="34" charset="-120"/>
              </a:rPr>
              <a:t>Gym Membership &amp; Fitness Session Management System</a:t>
            </a:r>
            <a:endParaRPr lang="en-US" sz="6600" dirty="0"/>
          </a:p>
        </p:txBody>
      </p:sp>
      <p:sp>
        <p:nvSpPr>
          <p:cNvPr id="6" name="Text 4"/>
          <p:cNvSpPr/>
          <p:nvPr/>
        </p:nvSpPr>
        <p:spPr>
          <a:xfrm>
            <a:off x="1066800" y="5389562"/>
            <a:ext cx="10595610" cy="998008"/>
          </a:xfrm>
          <a:prstGeom prst="rect">
            <a:avLst/>
          </a:prstGeom>
          <a:noFill/>
          <a:ln/>
        </p:spPr>
        <p:txBody>
          <a:bodyPr wrap="square" lIns="25400" tIns="25400" rIns="25400" bIns="25400" rtlCol="0" anchor="t">
            <a:normAutofit/>
          </a:bodyPr>
          <a:lstStyle/>
          <a:p>
            <a:pPr algn="l" indent="0" marL="0">
              <a:lnSpc>
                <a:spcPct val="115714"/>
              </a:lnSpc>
              <a:buNone/>
            </a:pPr>
            <a:r>
              <a:rPr lang="en-US" sz="2700" dirty="0">
                <a:solidFill>
                  <a:srgbClr val="A7A6B6"/>
                </a:solidFill>
                <a:latin typeface="Inter" pitchFamily="34" charset="0"/>
                <a:ea typeface="Inter" pitchFamily="34" charset="-122"/>
                <a:cs typeface="Inter" pitchFamily="34" charset="-120"/>
              </a:rPr>
              <a:t>Design and implementation of a relational database, normalized to Third Normal Form.</a:t>
            </a:r>
            <a:endParaRPr lang="en-US" sz="2700" dirty="0"/>
          </a:p>
        </p:txBody>
      </p:sp>
      <p:sp>
        <p:nvSpPr>
          <p:cNvPr id="7" name="Shape 5"/>
          <p:cNvSpPr/>
          <p:nvPr/>
        </p:nvSpPr>
        <p:spPr>
          <a:xfrm>
            <a:off x="1066800" y="6959071"/>
            <a:ext cx="8206449" cy="1206500"/>
          </a:xfrm>
          <a:prstGeom prst="roundRect">
            <a:avLst>
              <a:gd name="adj" fmla="val 12632"/>
            </a:avLst>
          </a:prstGeom>
          <a:solidFill>
            <a:srgbClr val="FFFFFF">
              <a:alpha val="3000"/>
            </a:srgbClr>
          </a:solidFill>
          <a:ln w="8467">
            <a:solidFill>
              <a:srgbClr val="FFFFFF">
                <a:alpha val="13000"/>
              </a:srgbClr>
            </a:solidFill>
            <a:prstDash val="solid"/>
          </a:ln>
        </p:spPr>
      </p:sp>
      <p:sp>
        <p:nvSpPr>
          <p:cNvPr id="8" name="Text 6"/>
          <p:cNvSpPr/>
          <p:nvPr/>
        </p:nvSpPr>
        <p:spPr>
          <a:xfrm>
            <a:off x="1456267" y="7215188"/>
            <a:ext cx="3191563"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PRESENTED BY</a:t>
            </a:r>
            <a:endParaRPr lang="en-US" sz="1200" dirty="0"/>
          </a:p>
        </p:txBody>
      </p:sp>
      <p:sp>
        <p:nvSpPr>
          <p:cNvPr id="9" name="Text 7"/>
          <p:cNvSpPr/>
          <p:nvPr/>
        </p:nvSpPr>
        <p:spPr>
          <a:xfrm>
            <a:off x="1456267" y="7469188"/>
            <a:ext cx="3191563" cy="478367"/>
          </a:xfrm>
          <a:prstGeom prst="rect">
            <a:avLst/>
          </a:prstGeom>
          <a:noFill/>
          <a:ln/>
        </p:spPr>
        <p:txBody>
          <a:bodyPr wrap="square" lIns="25400" tIns="25400" rIns="25400" bIns="25400" rtlCol="0" anchor="t">
            <a:normAutofit/>
          </a:bodyPr>
          <a:lstStyle/>
          <a:p>
            <a:pPr algn="l" indent="0" marL="0">
              <a:buNone/>
            </a:pPr>
            <a:r>
              <a:rPr lang="en-US" sz="2550" dirty="0">
                <a:solidFill>
                  <a:srgbClr val="F3F0E7"/>
                </a:solidFill>
                <a:latin typeface="Archivo Black" pitchFamily="34" charset="0"/>
                <a:ea typeface="Archivo Black" pitchFamily="34" charset="-122"/>
                <a:cs typeface="Archivo Black" pitchFamily="34" charset="-120"/>
              </a:rPr>
              <a:t>Aryan Baswapur</a:t>
            </a:r>
            <a:endParaRPr lang="en-US" sz="2550" dirty="0"/>
          </a:p>
        </p:txBody>
      </p:sp>
      <p:sp>
        <p:nvSpPr>
          <p:cNvPr id="10" name="Shape 8"/>
          <p:cNvSpPr/>
          <p:nvPr/>
        </p:nvSpPr>
        <p:spPr>
          <a:xfrm>
            <a:off x="4738688" y="6967538"/>
            <a:ext cx="9525" cy="1189567"/>
          </a:xfrm>
          <a:prstGeom prst="rect">
            <a:avLst/>
          </a:prstGeom>
          <a:solidFill>
            <a:srgbClr val="FFFFFF">
              <a:alpha val="13000"/>
            </a:srgbClr>
          </a:solidFill>
          <a:ln/>
        </p:spPr>
      </p:sp>
      <p:sp>
        <p:nvSpPr>
          <p:cNvPr id="11" name="Text 9"/>
          <p:cNvSpPr/>
          <p:nvPr/>
        </p:nvSpPr>
        <p:spPr>
          <a:xfrm>
            <a:off x="5128154" y="7215188"/>
            <a:ext cx="973402"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ROLL NO.</a:t>
            </a:r>
            <a:endParaRPr lang="en-US" sz="1200" dirty="0"/>
          </a:p>
        </p:txBody>
      </p:sp>
      <p:sp>
        <p:nvSpPr>
          <p:cNvPr id="12" name="Text 10"/>
          <p:cNvSpPr/>
          <p:nvPr/>
        </p:nvSpPr>
        <p:spPr>
          <a:xfrm>
            <a:off x="5128154" y="7488238"/>
            <a:ext cx="973402" cy="410633"/>
          </a:xfrm>
          <a:prstGeom prst="rect">
            <a:avLst/>
          </a:prstGeom>
          <a:noFill/>
          <a:ln/>
        </p:spPr>
        <p:txBody>
          <a:bodyPr wrap="square" lIns="25400" tIns="25400" rIns="25400" bIns="25400" rtlCol="0" anchor="t">
            <a:normAutofit/>
          </a:bodyPr>
          <a:lstStyle/>
          <a:p>
            <a:pPr algn="l" indent="0" marL="0">
              <a:buNone/>
            </a:pPr>
            <a:r>
              <a:rPr lang="en-US" sz="2400" b="1" dirty="0">
                <a:solidFill>
                  <a:srgbClr val="F3F0E7"/>
                </a:solidFill>
                <a:latin typeface="Inter" pitchFamily="34" charset="0"/>
                <a:ea typeface="Inter" pitchFamily="34" charset="-122"/>
                <a:cs typeface="Inter" pitchFamily="34" charset="-120"/>
              </a:rPr>
              <a:t>3007</a:t>
            </a:r>
            <a:endParaRPr lang="en-US" sz="2400" dirty="0"/>
          </a:p>
        </p:txBody>
      </p:sp>
      <p:sp>
        <p:nvSpPr>
          <p:cNvPr id="13" name="Shape 11"/>
          <p:cNvSpPr/>
          <p:nvPr/>
        </p:nvSpPr>
        <p:spPr>
          <a:xfrm>
            <a:off x="6406356" y="6967538"/>
            <a:ext cx="9525" cy="1189567"/>
          </a:xfrm>
          <a:prstGeom prst="rect">
            <a:avLst/>
          </a:prstGeom>
          <a:solidFill>
            <a:srgbClr val="FFFFFF">
              <a:alpha val="13000"/>
            </a:srgbClr>
          </a:solidFill>
          <a:ln/>
        </p:spPr>
      </p:sp>
      <p:sp>
        <p:nvSpPr>
          <p:cNvPr id="14" name="Text 12"/>
          <p:cNvSpPr/>
          <p:nvPr/>
        </p:nvSpPr>
        <p:spPr>
          <a:xfrm>
            <a:off x="6795823" y="7215188"/>
            <a:ext cx="2296755"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SECTION</a:t>
            </a:r>
            <a:endParaRPr lang="en-US" sz="1200" dirty="0"/>
          </a:p>
        </p:txBody>
      </p:sp>
      <p:sp>
        <p:nvSpPr>
          <p:cNvPr id="15" name="Text 13"/>
          <p:cNvSpPr/>
          <p:nvPr/>
        </p:nvSpPr>
        <p:spPr>
          <a:xfrm>
            <a:off x="6795823" y="7488238"/>
            <a:ext cx="2296755" cy="410633"/>
          </a:xfrm>
          <a:prstGeom prst="rect">
            <a:avLst/>
          </a:prstGeom>
          <a:noFill/>
          <a:ln/>
        </p:spPr>
        <p:txBody>
          <a:bodyPr wrap="square" lIns="25400" tIns="25400" rIns="25400" bIns="25400" rtlCol="0" anchor="t">
            <a:normAutofit/>
          </a:bodyPr>
          <a:lstStyle/>
          <a:p>
            <a:pPr algn="l" indent="0" marL="0">
              <a:buNone/>
            </a:pPr>
            <a:r>
              <a:rPr lang="en-US" sz="2400" b="1" dirty="0">
                <a:solidFill>
                  <a:srgbClr val="F3F0E7"/>
                </a:solidFill>
                <a:latin typeface="Inter" pitchFamily="34" charset="0"/>
                <a:ea typeface="Inter" pitchFamily="34" charset="-122"/>
                <a:cs typeface="Inter" pitchFamily="34" charset="-120"/>
              </a:rPr>
              <a:t>BIC-Tigers-29</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Shape 2"/>
          <p:cNvSpPr/>
          <p:nvPr/>
        </p:nvSpPr>
        <p:spPr>
          <a:xfrm>
            <a:off x="1066800" y="1066800"/>
            <a:ext cx="8377106" cy="8153400"/>
          </a:xfrm>
          <a:prstGeom prst="roundRect">
            <a:avLst>
              <a:gd name="adj" fmla="val 2804"/>
            </a:avLst>
          </a:prstGeom>
          <a:solidFill>
            <a:srgbClr val="FFFFFF">
              <a:alpha val="3000"/>
            </a:srgbClr>
          </a:solidFill>
          <a:ln w="8467">
            <a:solidFill>
              <a:srgbClr val="FFFFFF">
                <a:alpha val="13000"/>
              </a:srgbClr>
            </a:solidFill>
            <a:prstDash val="solid"/>
          </a:ln>
        </p:spPr>
      </p:sp>
      <p:sp>
        <p:nvSpPr>
          <p:cNvPr id="5" name="Text 3"/>
          <p:cNvSpPr/>
          <p:nvPr/>
        </p:nvSpPr>
        <p:spPr>
          <a:xfrm>
            <a:off x="1646767" y="2842419"/>
            <a:ext cx="7938889"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PROBLEM IDENTIFICATION</a:t>
            </a:r>
            <a:endParaRPr lang="en-US" sz="1575" dirty="0"/>
          </a:p>
        </p:txBody>
      </p:sp>
      <p:sp>
        <p:nvSpPr>
          <p:cNvPr id="6" name="Text 4"/>
          <p:cNvSpPr/>
          <p:nvPr/>
        </p:nvSpPr>
        <p:spPr>
          <a:xfrm>
            <a:off x="1646767" y="3297502"/>
            <a:ext cx="7433687" cy="1203854"/>
          </a:xfrm>
          <a:prstGeom prst="rect">
            <a:avLst/>
          </a:prstGeom>
          <a:noFill/>
          <a:ln/>
        </p:spPr>
        <p:txBody>
          <a:bodyPr wrap="square" lIns="25400" tIns="25400" rIns="25400" bIns="25400" rtlCol="0" anchor="t">
            <a:normAutofit/>
          </a:bodyPr>
          <a:lstStyle/>
          <a:p>
            <a:pPr algn="l" indent="0" marL="0">
              <a:lnSpc>
                <a:spcPct val="75659"/>
              </a:lnSpc>
              <a:buNone/>
            </a:pPr>
            <a:r>
              <a:rPr lang="en-US" sz="4500" b="1" dirty="0">
                <a:solidFill>
                  <a:srgbClr val="F3F0E7"/>
                </a:solidFill>
                <a:latin typeface="Archivo Black" pitchFamily="34" charset="0"/>
                <a:ea typeface="Archivo Black" pitchFamily="34" charset="-122"/>
                <a:cs typeface="Archivo Black" pitchFamily="34" charset="-120"/>
              </a:rPr>
              <a:t>Why manual systems fall short</a:t>
            </a:r>
            <a:endParaRPr lang="en-US" sz="4500" dirty="0"/>
          </a:p>
        </p:txBody>
      </p:sp>
      <p:sp>
        <p:nvSpPr>
          <p:cNvPr id="7" name="Text 5"/>
          <p:cNvSpPr/>
          <p:nvPr/>
        </p:nvSpPr>
        <p:spPr>
          <a:xfrm>
            <a:off x="1646767" y="4749006"/>
            <a:ext cx="7433687" cy="1281113"/>
          </a:xfrm>
          <a:prstGeom prst="rect">
            <a:avLst/>
          </a:prstGeom>
          <a:noFill/>
          <a:ln/>
        </p:spPr>
        <p:txBody>
          <a:bodyPr wrap="square" lIns="25400" tIns="25400" rIns="25400" bIns="25400" rtlCol="0" anchor="t">
            <a:normAutofit/>
          </a:bodyPr>
          <a:lstStyle/>
          <a:p>
            <a:pPr algn="l" indent="0" marL="0">
              <a:lnSpc>
                <a:spcPct val="122344"/>
              </a:lnSpc>
              <a:buNone/>
            </a:pPr>
            <a:r>
              <a:rPr lang="en-US" sz="2175" dirty="0">
                <a:solidFill>
                  <a:srgbClr val="A7A6B6"/>
                </a:solidFill>
                <a:latin typeface="Inter" pitchFamily="34" charset="0"/>
                <a:ea typeface="Inter" pitchFamily="34" charset="-122"/>
                <a:cs typeface="Inter" pitchFamily="34" charset="-120"/>
              </a:rPr>
              <a:t>Most fitness centres track members, subscriptions, trainers, classes and equipment on spreadsheets and paper registers.</a:t>
            </a:r>
            <a:endParaRPr lang="en-US" sz="2175" dirty="0"/>
          </a:p>
        </p:txBody>
      </p:sp>
      <p:sp>
        <p:nvSpPr>
          <p:cNvPr id="8" name="Text 6"/>
          <p:cNvSpPr/>
          <p:nvPr/>
        </p:nvSpPr>
        <p:spPr>
          <a:xfrm>
            <a:off x="1646767" y="6201569"/>
            <a:ext cx="7433687" cy="1281113"/>
          </a:xfrm>
          <a:prstGeom prst="rect">
            <a:avLst/>
          </a:prstGeom>
          <a:noFill/>
          <a:ln/>
        </p:spPr>
        <p:txBody>
          <a:bodyPr wrap="square" lIns="25400" tIns="25400" rIns="25400" bIns="25400" rtlCol="0" anchor="t">
            <a:normAutofit/>
          </a:bodyPr>
          <a:lstStyle/>
          <a:p>
            <a:pPr algn="l" indent="0" marL="0">
              <a:lnSpc>
                <a:spcPct val="122344"/>
              </a:lnSpc>
              <a:buNone/>
            </a:pPr>
            <a:r>
              <a:rPr lang="en-US" sz="2175" dirty="0">
                <a:solidFill>
                  <a:srgbClr val="A7A6B6"/>
                </a:solidFill>
                <a:latin typeface="Inter" pitchFamily="34" charset="0"/>
                <a:ea typeface="Inter" pitchFamily="34" charset="-122"/>
                <a:cs typeface="Inter" pitchFamily="34" charset="-120"/>
              </a:rPr>
              <a:t>Without enforced rules, data drifts out of sync and the errors below go unnoticed until they cost money or a member's trust.</a:t>
            </a:r>
            <a:endParaRPr lang="en-US" sz="2175" dirty="0"/>
          </a:p>
        </p:txBody>
      </p:sp>
      <p:sp>
        <p:nvSpPr>
          <p:cNvPr id="9" name="Shape 7"/>
          <p:cNvSpPr/>
          <p:nvPr/>
        </p:nvSpPr>
        <p:spPr>
          <a:xfrm>
            <a:off x="10263055" y="1257300"/>
            <a:ext cx="9525" cy="7772400"/>
          </a:xfrm>
          <a:prstGeom prst="rect">
            <a:avLst/>
          </a:prstGeom>
          <a:gradFill rotWithShape="1">
            <a:gsLst>
              <a:gs pos="0">
                <a:srgbClr val="CFC9FF">
                  <a:alpha val="0"/>
                </a:srgbClr>
              </a:gs>
              <a:gs pos="12000">
                <a:srgbClr val="CFC9FF">
                  <a:alpha val="40000"/>
                </a:srgbClr>
              </a:gs>
              <a:gs pos="88000">
                <a:srgbClr val="CFC9FF">
                  <a:alpha val="40000"/>
                </a:srgbClr>
              </a:gs>
              <a:gs pos="100000">
                <a:srgbClr val="CFC9FF">
                  <a:alpha val="0"/>
                </a:srgbClr>
              </a:gs>
            </a:gsLst>
            <a:lin ang="5400000" scaled="0"/>
          </a:gra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48755" y="1162050"/>
            <a:ext cx="247650" cy="247650"/>
          </a:xfrm>
          <a:prstGeom prst="rect">
            <a:avLst/>
          </a:prstGeom>
        </p:spPr>
      </p:pic>
      <p:sp>
        <p:nvSpPr>
          <p:cNvPr id="11" name="Text 8"/>
          <p:cNvSpPr/>
          <p:nvPr/>
        </p:nvSpPr>
        <p:spPr>
          <a:xfrm>
            <a:off x="10777405" y="1143000"/>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01</a:t>
            </a:r>
            <a:endParaRPr lang="en-US" sz="6150" dirty="0"/>
          </a:p>
        </p:txBody>
      </p:sp>
      <p:sp>
        <p:nvSpPr>
          <p:cNvPr id="12" name="Text 9"/>
          <p:cNvSpPr/>
          <p:nvPr/>
        </p:nvSpPr>
        <p:spPr>
          <a:xfrm>
            <a:off x="10777405" y="1960166"/>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Expiry goes unnoticed</a:t>
            </a:r>
            <a:endParaRPr lang="en-US" sz="1950" dirty="0"/>
          </a:p>
        </p:txBody>
      </p:sp>
      <p:sp>
        <p:nvSpPr>
          <p:cNvPr id="13" name="Text 10"/>
          <p:cNvSpPr/>
          <p:nvPr/>
        </p:nvSpPr>
        <p:spPr>
          <a:xfrm>
            <a:off x="10777405" y="2332699"/>
            <a:ext cx="5101590" cy="700881"/>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Memberships lapse with no alert, so revenue leaks and lapsed members keep training.</a:t>
            </a:r>
            <a:endParaRPr lang="en-US" sz="18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8755" y="3904985"/>
            <a:ext cx="247650" cy="247650"/>
          </a:xfrm>
          <a:prstGeom prst="rect">
            <a:avLst/>
          </a:prstGeom>
        </p:spPr>
      </p:pic>
      <p:sp>
        <p:nvSpPr>
          <p:cNvPr id="15" name="Text 11"/>
          <p:cNvSpPr/>
          <p:nvPr/>
        </p:nvSpPr>
        <p:spPr>
          <a:xfrm>
            <a:off x="10777405" y="3885935"/>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02</a:t>
            </a:r>
            <a:endParaRPr lang="en-US" sz="6150" dirty="0"/>
          </a:p>
        </p:txBody>
      </p:sp>
      <p:sp>
        <p:nvSpPr>
          <p:cNvPr id="16" name="Text 12"/>
          <p:cNvSpPr/>
          <p:nvPr/>
        </p:nvSpPr>
        <p:spPr>
          <a:xfrm>
            <a:off x="10777405" y="4703101"/>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Classes overbook</a:t>
            </a:r>
            <a:endParaRPr lang="en-US" sz="1950" dirty="0"/>
          </a:p>
        </p:txBody>
      </p:sp>
      <p:sp>
        <p:nvSpPr>
          <p:cNvPr id="17" name="Text 13"/>
          <p:cNvSpPr/>
          <p:nvPr/>
        </p:nvSpPr>
        <p:spPr>
          <a:xfrm>
            <a:off x="10777405" y="5075634"/>
            <a:ext cx="5101590" cy="1032272"/>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No capacity control means sessions are double-booked and trainers are assigned to overlapping slots.</a:t>
            </a:r>
            <a:endParaRPr lang="en-US" sz="18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8755" y="6979179"/>
            <a:ext cx="247650" cy="247650"/>
          </a:xfrm>
          <a:prstGeom prst="rect">
            <a:avLst/>
          </a:prstGeom>
        </p:spPr>
      </p:pic>
      <p:sp>
        <p:nvSpPr>
          <p:cNvPr id="19" name="Text 14"/>
          <p:cNvSpPr/>
          <p:nvPr/>
        </p:nvSpPr>
        <p:spPr>
          <a:xfrm>
            <a:off x="10777405" y="6960129"/>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03</a:t>
            </a:r>
            <a:endParaRPr lang="en-US" sz="6150" dirty="0"/>
          </a:p>
        </p:txBody>
      </p:sp>
      <p:sp>
        <p:nvSpPr>
          <p:cNvPr id="20" name="Text 15"/>
          <p:cNvSpPr/>
          <p:nvPr/>
        </p:nvSpPr>
        <p:spPr>
          <a:xfrm>
            <a:off x="10777405" y="7777295"/>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Records scatter</a:t>
            </a:r>
            <a:endParaRPr lang="en-US" sz="1950" dirty="0"/>
          </a:p>
        </p:txBody>
      </p:sp>
      <p:sp>
        <p:nvSpPr>
          <p:cNvPr id="21" name="Text 16"/>
          <p:cNvSpPr/>
          <p:nvPr/>
        </p:nvSpPr>
        <p:spPr>
          <a:xfrm>
            <a:off x="10777405" y="8149828"/>
            <a:ext cx="5101590" cy="1032272"/>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Assessments, payments and equipment logs live in separate files with no shared source of truth.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SCOPE &amp; OBJECTIVES</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What the system will and must do</a:t>
            </a:r>
            <a:endParaRPr lang="en-US" sz="4200" dirty="0"/>
          </a:p>
        </p:txBody>
      </p:sp>
      <p:sp>
        <p:nvSpPr>
          <p:cNvPr id="6" name="Shape 4"/>
          <p:cNvSpPr/>
          <p:nvPr/>
        </p:nvSpPr>
        <p:spPr>
          <a:xfrm>
            <a:off x="1066800" y="2493433"/>
            <a:ext cx="7867650" cy="6726767"/>
          </a:xfrm>
          <a:prstGeom prst="roundRect">
            <a:avLst>
              <a:gd name="adj" fmla="val 2832"/>
            </a:avLst>
          </a:prstGeom>
          <a:solidFill>
            <a:srgbClr val="FFFFFF">
              <a:alpha val="3000"/>
            </a:srgbClr>
          </a:solidFill>
          <a:ln w="8467">
            <a:solidFill>
              <a:srgbClr val="FFFFFF">
                <a:alpha val="13000"/>
              </a:srgbClr>
            </a:solidFill>
            <a:prstDash val="solid"/>
          </a:ln>
        </p:spPr>
      </p:sp>
      <p:sp>
        <p:nvSpPr>
          <p:cNvPr id="7" name="Text 5"/>
          <p:cNvSpPr/>
          <p:nvPr/>
        </p:nvSpPr>
        <p:spPr>
          <a:xfrm>
            <a:off x="1513417" y="2921000"/>
            <a:ext cx="7671858" cy="427567"/>
          </a:xfrm>
          <a:prstGeom prst="rect">
            <a:avLst/>
          </a:prstGeom>
          <a:noFill/>
          <a:ln/>
        </p:spPr>
        <p:txBody>
          <a:bodyPr wrap="square" lIns="25400" tIns="25400" rIns="25400" bIns="25400" rtlCol="0" anchor="t">
            <a:normAutofit/>
          </a:bodyPr>
          <a:lstStyle/>
          <a:p>
            <a:pPr algn="l" indent="0" marL="0">
              <a:buNone/>
            </a:pPr>
            <a:r>
              <a:rPr lang="en-US" sz="2250" dirty="0">
                <a:solidFill>
                  <a:srgbClr val="F3F0E7"/>
                </a:solidFill>
                <a:latin typeface="Archivo Black" pitchFamily="34" charset="0"/>
                <a:ea typeface="Archivo Black" pitchFamily="34" charset="-122"/>
                <a:cs typeface="Archivo Black" pitchFamily="34" charset="-120"/>
              </a:rPr>
              <a:t>In Scope</a:t>
            </a:r>
            <a:endParaRPr lang="en-US" sz="2250" dirty="0"/>
          </a:p>
        </p:txBody>
      </p:sp>
      <p:sp>
        <p:nvSpPr>
          <p:cNvPr id="8" name="Text 6"/>
          <p:cNvSpPr/>
          <p:nvPr/>
        </p:nvSpPr>
        <p:spPr>
          <a:xfrm>
            <a:off x="1513417" y="3558117"/>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Members, plans &amp; subscriptions</a:t>
            </a:r>
            <a:endParaRPr lang="en-US" sz="1950" dirty="0"/>
          </a:p>
        </p:txBody>
      </p:sp>
      <p:sp>
        <p:nvSpPr>
          <p:cNvPr id="9" name="Text 7"/>
          <p:cNvSpPr/>
          <p:nvPr/>
        </p:nvSpPr>
        <p:spPr>
          <a:xfrm>
            <a:off x="1513417" y="4063868"/>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Trainers, assessments &amp; workout programmes</a:t>
            </a:r>
            <a:endParaRPr lang="en-US" sz="1950" dirty="0"/>
          </a:p>
        </p:txBody>
      </p:sp>
      <p:sp>
        <p:nvSpPr>
          <p:cNvPr id="10" name="Text 8"/>
          <p:cNvSpPr/>
          <p:nvPr/>
        </p:nvSpPr>
        <p:spPr>
          <a:xfrm>
            <a:off x="1513417" y="4569619"/>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Classes, schedules, registrations &amp; attendance</a:t>
            </a:r>
            <a:endParaRPr lang="en-US" sz="1950" dirty="0"/>
          </a:p>
        </p:txBody>
      </p:sp>
      <p:sp>
        <p:nvSpPr>
          <p:cNvPr id="11" name="Text 9"/>
          <p:cNvSpPr/>
          <p:nvPr/>
        </p:nvSpPr>
        <p:spPr>
          <a:xfrm>
            <a:off x="1513417" y="5075370"/>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Equipment &amp; maintenance</a:t>
            </a:r>
            <a:endParaRPr lang="en-US" sz="1950" dirty="0"/>
          </a:p>
        </p:txBody>
      </p:sp>
      <p:sp>
        <p:nvSpPr>
          <p:cNvPr id="12" name="Text 10"/>
          <p:cNvSpPr/>
          <p:nvPr/>
        </p:nvSpPr>
        <p:spPr>
          <a:xfrm>
            <a:off x="1513417" y="5581121"/>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Payments, renewals &amp; reporting</a:t>
            </a:r>
            <a:endParaRPr lang="en-US" sz="1950" dirty="0"/>
          </a:p>
        </p:txBody>
      </p:sp>
      <p:sp>
        <p:nvSpPr>
          <p:cNvPr id="13" name="Shape 11"/>
          <p:cNvSpPr/>
          <p:nvPr/>
        </p:nvSpPr>
        <p:spPr>
          <a:xfrm>
            <a:off x="9353550" y="2493433"/>
            <a:ext cx="7867650" cy="6726767"/>
          </a:xfrm>
          <a:prstGeom prst="roundRect">
            <a:avLst>
              <a:gd name="adj" fmla="val 2832"/>
            </a:avLst>
          </a:prstGeom>
          <a:solidFill>
            <a:srgbClr val="FFFFFF">
              <a:alpha val="3000"/>
            </a:srgbClr>
          </a:solidFill>
          <a:ln w="8467">
            <a:solidFill>
              <a:srgbClr val="FFFFFF">
                <a:alpha val="13000"/>
              </a:srgbClr>
            </a:solidFill>
            <a:prstDash val="solid"/>
          </a:ln>
        </p:spPr>
      </p:sp>
      <p:sp>
        <p:nvSpPr>
          <p:cNvPr id="14" name="Text 12"/>
          <p:cNvSpPr/>
          <p:nvPr/>
        </p:nvSpPr>
        <p:spPr>
          <a:xfrm>
            <a:off x="9800167" y="2921000"/>
            <a:ext cx="7671858" cy="427567"/>
          </a:xfrm>
          <a:prstGeom prst="rect">
            <a:avLst/>
          </a:prstGeom>
          <a:noFill/>
          <a:ln/>
        </p:spPr>
        <p:txBody>
          <a:bodyPr wrap="square" lIns="25400" tIns="25400" rIns="25400" bIns="25400" rtlCol="0" anchor="t">
            <a:normAutofit/>
          </a:bodyPr>
          <a:lstStyle/>
          <a:p>
            <a:pPr algn="l" indent="0" marL="0">
              <a:buNone/>
            </a:pPr>
            <a:r>
              <a:rPr lang="en-US" sz="2250" dirty="0">
                <a:solidFill>
                  <a:srgbClr val="F3F0E7"/>
                </a:solidFill>
                <a:latin typeface="Archivo Black" pitchFamily="34" charset="0"/>
                <a:ea typeface="Archivo Black" pitchFamily="34" charset="-122"/>
                <a:cs typeface="Archivo Black" pitchFamily="34" charset="-120"/>
              </a:rPr>
              <a:t>Objectives</a:t>
            </a:r>
            <a:endParaRPr lang="en-US" sz="2250" dirty="0"/>
          </a:p>
        </p:txBody>
      </p:sp>
      <p:sp>
        <p:nvSpPr>
          <p:cNvPr id="15" name="Text 13"/>
          <p:cNvSpPr/>
          <p:nvPr/>
        </p:nvSpPr>
        <p:spPr>
          <a:xfrm>
            <a:off x="9800167" y="3575050"/>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01</a:t>
            </a:r>
            <a:endParaRPr lang="en-US" sz="1800" dirty="0"/>
          </a:p>
        </p:txBody>
      </p:sp>
      <p:sp>
        <p:nvSpPr>
          <p:cNvPr id="16" name="Text 14"/>
          <p:cNvSpPr/>
          <p:nvPr/>
        </p:nvSpPr>
        <p:spPr>
          <a:xfrm>
            <a:off x="10295467" y="3558117"/>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Model gym data as a normalized relational schema in 3NF.</a:t>
            </a:r>
            <a:endParaRPr lang="en-US" sz="1950" dirty="0"/>
          </a:p>
        </p:txBody>
      </p:sp>
      <p:sp>
        <p:nvSpPr>
          <p:cNvPr id="17" name="Text 15"/>
          <p:cNvSpPr/>
          <p:nvPr/>
        </p:nvSpPr>
        <p:spPr>
          <a:xfrm>
            <a:off x="9800167" y="4434152"/>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02</a:t>
            </a:r>
            <a:endParaRPr lang="en-US" sz="1800" dirty="0"/>
          </a:p>
        </p:txBody>
      </p:sp>
      <p:sp>
        <p:nvSpPr>
          <p:cNvPr id="18" name="Text 16"/>
          <p:cNvSpPr/>
          <p:nvPr/>
        </p:nvSpPr>
        <p:spPr>
          <a:xfrm>
            <a:off x="10295467" y="4417219"/>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Protect integrity with primary keys, foreign keys and constraints.</a:t>
            </a:r>
            <a:endParaRPr lang="en-US" sz="1950" dirty="0"/>
          </a:p>
        </p:txBody>
      </p:sp>
      <p:sp>
        <p:nvSpPr>
          <p:cNvPr id="19" name="Text 17"/>
          <p:cNvSpPr/>
          <p:nvPr/>
        </p:nvSpPr>
        <p:spPr>
          <a:xfrm>
            <a:off x="9800167" y="5293254"/>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03</a:t>
            </a:r>
            <a:endParaRPr lang="en-US" sz="1800" dirty="0"/>
          </a:p>
        </p:txBody>
      </p:sp>
      <p:sp>
        <p:nvSpPr>
          <p:cNvPr id="20" name="Text 18"/>
          <p:cNvSpPr/>
          <p:nvPr/>
        </p:nvSpPr>
        <p:spPr>
          <a:xfrm>
            <a:off x="10295467" y="5276321"/>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Automate expiry, class-capacity and trainer-overlap rules.</a:t>
            </a:r>
            <a:endParaRPr lang="en-US" sz="1950" dirty="0"/>
          </a:p>
        </p:txBody>
      </p:sp>
      <p:sp>
        <p:nvSpPr>
          <p:cNvPr id="21" name="Text 19"/>
          <p:cNvSpPr/>
          <p:nvPr/>
        </p:nvSpPr>
        <p:spPr>
          <a:xfrm>
            <a:off x="9800167" y="6152356"/>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04</a:t>
            </a:r>
            <a:endParaRPr lang="en-US" sz="1800" dirty="0"/>
          </a:p>
        </p:txBody>
      </p:sp>
      <p:sp>
        <p:nvSpPr>
          <p:cNvPr id="22" name="Text 20"/>
          <p:cNvSpPr/>
          <p:nvPr/>
        </p:nvSpPr>
        <p:spPr>
          <a:xfrm>
            <a:off x="10295467" y="6135423"/>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Deliver queries and reports for members, revenue and trainer load.</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USERS &amp; FUNCTIONAL REQUIREMENTS</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Who uses it, and what it must do</a:t>
            </a:r>
            <a:endParaRPr lang="en-US" sz="4200" dirty="0"/>
          </a:p>
        </p:txBody>
      </p:sp>
      <p:sp>
        <p:nvSpPr>
          <p:cNvPr id="6" name="Shape 4"/>
          <p:cNvSpPr/>
          <p:nvPr/>
        </p:nvSpPr>
        <p:spPr>
          <a:xfrm>
            <a:off x="1066800"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7" name="Text 5"/>
          <p:cNvSpPr/>
          <p:nvPr/>
        </p:nvSpPr>
        <p:spPr>
          <a:xfrm>
            <a:off x="1303867"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Administrator</a:t>
            </a:r>
            <a:endParaRPr lang="en-US" sz="1875" dirty="0"/>
          </a:p>
        </p:txBody>
      </p:sp>
      <p:sp>
        <p:nvSpPr>
          <p:cNvPr id="8" name="Text 6"/>
          <p:cNvSpPr/>
          <p:nvPr/>
        </p:nvSpPr>
        <p:spPr>
          <a:xfrm>
            <a:off x="1303867"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Plans, staff, config &amp; reports</a:t>
            </a:r>
            <a:endParaRPr lang="en-US" sz="1500" dirty="0"/>
          </a:p>
        </p:txBody>
      </p:sp>
      <p:sp>
        <p:nvSpPr>
          <p:cNvPr id="9" name="Shape 7"/>
          <p:cNvSpPr/>
          <p:nvPr/>
        </p:nvSpPr>
        <p:spPr>
          <a:xfrm>
            <a:off x="5157788"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0" name="Text 8"/>
          <p:cNvSpPr/>
          <p:nvPr/>
        </p:nvSpPr>
        <p:spPr>
          <a:xfrm>
            <a:off x="5394854"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Front-desk</a:t>
            </a:r>
            <a:endParaRPr lang="en-US" sz="1875" dirty="0"/>
          </a:p>
        </p:txBody>
      </p:sp>
      <p:sp>
        <p:nvSpPr>
          <p:cNvPr id="11" name="Text 9"/>
          <p:cNvSpPr/>
          <p:nvPr/>
        </p:nvSpPr>
        <p:spPr>
          <a:xfrm>
            <a:off x="5394854"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Sign-ups, bookings, payments</a:t>
            </a:r>
            <a:endParaRPr lang="en-US" sz="1500" dirty="0"/>
          </a:p>
        </p:txBody>
      </p:sp>
      <p:sp>
        <p:nvSpPr>
          <p:cNvPr id="12" name="Shape 10"/>
          <p:cNvSpPr/>
          <p:nvPr/>
        </p:nvSpPr>
        <p:spPr>
          <a:xfrm>
            <a:off x="9248775"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3" name="Text 11"/>
          <p:cNvSpPr/>
          <p:nvPr/>
        </p:nvSpPr>
        <p:spPr>
          <a:xfrm>
            <a:off x="9485842"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Trainer</a:t>
            </a:r>
            <a:endParaRPr lang="en-US" sz="1875" dirty="0"/>
          </a:p>
        </p:txBody>
      </p:sp>
      <p:sp>
        <p:nvSpPr>
          <p:cNvPr id="14" name="Text 12"/>
          <p:cNvSpPr/>
          <p:nvPr/>
        </p:nvSpPr>
        <p:spPr>
          <a:xfrm>
            <a:off x="9485842"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Assessments, programmes, classes</a:t>
            </a:r>
            <a:endParaRPr lang="en-US" sz="1500" dirty="0"/>
          </a:p>
        </p:txBody>
      </p:sp>
      <p:sp>
        <p:nvSpPr>
          <p:cNvPr id="15" name="Shape 13"/>
          <p:cNvSpPr/>
          <p:nvPr/>
        </p:nvSpPr>
        <p:spPr>
          <a:xfrm>
            <a:off x="13339763"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6" name="Text 14"/>
          <p:cNvSpPr/>
          <p:nvPr/>
        </p:nvSpPr>
        <p:spPr>
          <a:xfrm>
            <a:off x="13576829"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Member</a:t>
            </a:r>
            <a:endParaRPr lang="en-US" sz="1875" dirty="0"/>
          </a:p>
        </p:txBody>
      </p:sp>
      <p:sp>
        <p:nvSpPr>
          <p:cNvPr id="17" name="Text 15"/>
          <p:cNvSpPr/>
          <p:nvPr/>
        </p:nvSpPr>
        <p:spPr>
          <a:xfrm>
            <a:off x="13576829"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Book classes, track progress</a:t>
            </a:r>
            <a:endParaRPr lang="en-US" sz="1500" dirty="0"/>
          </a:p>
        </p:txBody>
      </p:sp>
      <p:sp>
        <p:nvSpPr>
          <p:cNvPr id="18" name="Shape 16"/>
          <p:cNvSpPr/>
          <p:nvPr/>
        </p:nvSpPr>
        <p:spPr>
          <a:xfrm>
            <a:off x="106680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19" name="Text 17"/>
          <p:cNvSpPr/>
          <p:nvPr/>
        </p:nvSpPr>
        <p:spPr>
          <a:xfrm>
            <a:off x="134196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Membership &amp; Plans</a:t>
            </a:r>
            <a:endParaRPr lang="en-US" sz="1800" dirty="0"/>
          </a:p>
        </p:txBody>
      </p:sp>
      <p:sp>
        <p:nvSpPr>
          <p:cNvPr id="20" name="Text 18"/>
          <p:cNvSpPr/>
          <p:nvPr/>
        </p:nvSpPr>
        <p:spPr>
          <a:xfrm>
            <a:off x="134196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Register members, assign and upgrade plans.</a:t>
            </a:r>
            <a:endParaRPr lang="en-US" sz="1575" dirty="0"/>
          </a:p>
        </p:txBody>
      </p:sp>
      <p:sp>
        <p:nvSpPr>
          <p:cNvPr id="21" name="Shape 19"/>
          <p:cNvSpPr/>
          <p:nvPr/>
        </p:nvSpPr>
        <p:spPr>
          <a:xfrm>
            <a:off x="652145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22" name="Text 20"/>
          <p:cNvSpPr/>
          <p:nvPr/>
        </p:nvSpPr>
        <p:spPr>
          <a:xfrm>
            <a:off x="679661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Subscriptions &amp; Renewals</a:t>
            </a:r>
            <a:endParaRPr lang="en-US" sz="1800" dirty="0"/>
          </a:p>
        </p:txBody>
      </p:sp>
      <p:sp>
        <p:nvSpPr>
          <p:cNvPr id="23" name="Text 21"/>
          <p:cNvSpPr/>
          <p:nvPr/>
        </p:nvSpPr>
        <p:spPr>
          <a:xfrm>
            <a:off x="679661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Activate, track expiry and renew on time.</a:t>
            </a:r>
            <a:endParaRPr lang="en-US" sz="1575" dirty="0"/>
          </a:p>
        </p:txBody>
      </p:sp>
      <p:sp>
        <p:nvSpPr>
          <p:cNvPr id="24" name="Shape 22"/>
          <p:cNvSpPr/>
          <p:nvPr/>
        </p:nvSpPr>
        <p:spPr>
          <a:xfrm>
            <a:off x="1197610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25" name="Text 23"/>
          <p:cNvSpPr/>
          <p:nvPr/>
        </p:nvSpPr>
        <p:spPr>
          <a:xfrm>
            <a:off x="1225126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Trainers &amp; Assessments</a:t>
            </a:r>
            <a:endParaRPr lang="en-US" sz="1800" dirty="0"/>
          </a:p>
        </p:txBody>
      </p:sp>
      <p:sp>
        <p:nvSpPr>
          <p:cNvPr id="26" name="Text 24"/>
          <p:cNvSpPr/>
          <p:nvPr/>
        </p:nvSpPr>
        <p:spPr>
          <a:xfrm>
            <a:off x="1225126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Assign trainers, record fitness assessments.</a:t>
            </a:r>
            <a:endParaRPr lang="en-US" sz="1575" dirty="0"/>
          </a:p>
        </p:txBody>
      </p:sp>
      <p:sp>
        <p:nvSpPr>
          <p:cNvPr id="27" name="Shape 25"/>
          <p:cNvSpPr/>
          <p:nvPr/>
        </p:nvSpPr>
        <p:spPr>
          <a:xfrm>
            <a:off x="106680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28" name="Text 26"/>
          <p:cNvSpPr/>
          <p:nvPr/>
        </p:nvSpPr>
        <p:spPr>
          <a:xfrm>
            <a:off x="134196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Classes &amp; Booking</a:t>
            </a:r>
            <a:endParaRPr lang="en-US" sz="1800" dirty="0"/>
          </a:p>
        </p:txBody>
      </p:sp>
      <p:sp>
        <p:nvSpPr>
          <p:cNvPr id="29" name="Text 27"/>
          <p:cNvSpPr/>
          <p:nvPr/>
        </p:nvSpPr>
        <p:spPr>
          <a:xfrm>
            <a:off x="1341967" y="7128140"/>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Schedule classes, book seats within capacity.</a:t>
            </a:r>
            <a:endParaRPr lang="en-US" sz="1575" dirty="0"/>
          </a:p>
        </p:txBody>
      </p:sp>
      <p:sp>
        <p:nvSpPr>
          <p:cNvPr id="30" name="Shape 28"/>
          <p:cNvSpPr/>
          <p:nvPr/>
        </p:nvSpPr>
        <p:spPr>
          <a:xfrm>
            <a:off x="652145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31" name="Text 29"/>
          <p:cNvSpPr/>
          <p:nvPr/>
        </p:nvSpPr>
        <p:spPr>
          <a:xfrm>
            <a:off x="679661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Attendance</a:t>
            </a:r>
            <a:endParaRPr lang="en-US" sz="1800" dirty="0"/>
          </a:p>
        </p:txBody>
      </p:sp>
      <p:sp>
        <p:nvSpPr>
          <p:cNvPr id="32" name="Text 30"/>
          <p:cNvSpPr/>
          <p:nvPr/>
        </p:nvSpPr>
        <p:spPr>
          <a:xfrm>
            <a:off x="6796617" y="7128140"/>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Mark check-in and check-out per session.</a:t>
            </a:r>
            <a:endParaRPr lang="en-US" sz="1575" dirty="0"/>
          </a:p>
        </p:txBody>
      </p:sp>
      <p:sp>
        <p:nvSpPr>
          <p:cNvPr id="33" name="Shape 31"/>
          <p:cNvSpPr/>
          <p:nvPr/>
        </p:nvSpPr>
        <p:spPr>
          <a:xfrm>
            <a:off x="1197610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34" name="Text 32"/>
          <p:cNvSpPr/>
          <p:nvPr/>
        </p:nvSpPr>
        <p:spPr>
          <a:xfrm>
            <a:off x="1225126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Payments &amp; Reporting</a:t>
            </a:r>
            <a:endParaRPr lang="en-US" sz="1800" dirty="0"/>
          </a:p>
        </p:txBody>
      </p:sp>
      <p:sp>
        <p:nvSpPr>
          <p:cNvPr id="35" name="Text 33"/>
          <p:cNvSpPr/>
          <p:nvPr/>
        </p:nvSpPr>
        <p:spPr>
          <a:xfrm>
            <a:off x="12251267" y="7128140"/>
            <a:ext cx="4835610" cy="597958"/>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Record payments, generate revenue &amp; load reports.</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The fourteen principal entities</a:t>
            </a:r>
            <a:endParaRPr lang="en-US" sz="4200" dirty="0"/>
          </a:p>
        </p:txBody>
      </p:sp>
      <p:sp>
        <p:nvSpPr>
          <p:cNvPr id="6" name="Text 4"/>
          <p:cNvSpPr/>
          <p:nvPr/>
        </p:nvSpPr>
        <p:spPr>
          <a:xfrm>
            <a:off x="106680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MEMBERSHIP</a:t>
            </a:r>
            <a:endParaRPr lang="en-US" sz="1500" dirty="0"/>
          </a:p>
        </p:txBody>
      </p:sp>
      <p:sp>
        <p:nvSpPr>
          <p:cNvPr id="7" name="Shape 5"/>
          <p:cNvSpPr/>
          <p:nvPr/>
        </p:nvSpPr>
        <p:spPr>
          <a:xfrm>
            <a:off x="106680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8" name="Text 6"/>
          <p:cNvSpPr/>
          <p:nvPr/>
        </p:nvSpPr>
        <p:spPr>
          <a:xfrm>
            <a:off x="1284817"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Member</a:t>
            </a:r>
            <a:endParaRPr lang="en-US" sz="1875" dirty="0"/>
          </a:p>
        </p:txBody>
      </p:sp>
      <p:sp>
        <p:nvSpPr>
          <p:cNvPr id="9" name="Shape 7"/>
          <p:cNvSpPr/>
          <p:nvPr/>
        </p:nvSpPr>
        <p:spPr>
          <a:xfrm>
            <a:off x="106680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0" name="Text 8"/>
          <p:cNvSpPr/>
          <p:nvPr/>
        </p:nvSpPr>
        <p:spPr>
          <a:xfrm>
            <a:off x="1284817"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Plan</a:t>
            </a:r>
            <a:endParaRPr lang="en-US" sz="1875" dirty="0"/>
          </a:p>
        </p:txBody>
      </p:sp>
      <p:sp>
        <p:nvSpPr>
          <p:cNvPr id="11" name="Shape 9"/>
          <p:cNvSpPr/>
          <p:nvPr/>
        </p:nvSpPr>
        <p:spPr>
          <a:xfrm>
            <a:off x="106680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2" name="Text 10"/>
          <p:cNvSpPr/>
          <p:nvPr/>
        </p:nvSpPr>
        <p:spPr>
          <a:xfrm>
            <a:off x="1284817"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Subscription</a:t>
            </a:r>
            <a:endParaRPr lang="en-US" sz="1875" dirty="0"/>
          </a:p>
        </p:txBody>
      </p:sp>
      <p:sp>
        <p:nvSpPr>
          <p:cNvPr id="13" name="Shape 11"/>
          <p:cNvSpPr/>
          <p:nvPr/>
        </p:nvSpPr>
        <p:spPr>
          <a:xfrm>
            <a:off x="106680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4" name="Text 12"/>
          <p:cNvSpPr/>
          <p:nvPr/>
        </p:nvSpPr>
        <p:spPr>
          <a:xfrm>
            <a:off x="1284817"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Payment</a:t>
            </a:r>
            <a:endParaRPr lang="en-US" sz="1875" dirty="0"/>
          </a:p>
        </p:txBody>
      </p:sp>
      <p:sp>
        <p:nvSpPr>
          <p:cNvPr id="15" name="Shape 13"/>
          <p:cNvSpPr/>
          <p:nvPr/>
        </p:nvSpPr>
        <p:spPr>
          <a:xfrm>
            <a:off x="1066800" y="60176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6" name="Text 14"/>
          <p:cNvSpPr/>
          <p:nvPr/>
        </p:nvSpPr>
        <p:spPr>
          <a:xfrm>
            <a:off x="1284817" y="61976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Renewal</a:t>
            </a:r>
            <a:endParaRPr lang="en-US" sz="1875" dirty="0"/>
          </a:p>
        </p:txBody>
      </p:sp>
      <p:sp>
        <p:nvSpPr>
          <p:cNvPr id="17" name="Text 15"/>
          <p:cNvSpPr/>
          <p:nvPr/>
        </p:nvSpPr>
        <p:spPr>
          <a:xfrm>
            <a:off x="654685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TRAINING</a:t>
            </a:r>
            <a:endParaRPr lang="en-US" sz="1500" dirty="0"/>
          </a:p>
        </p:txBody>
      </p:sp>
      <p:sp>
        <p:nvSpPr>
          <p:cNvPr id="18" name="Shape 16"/>
          <p:cNvSpPr/>
          <p:nvPr/>
        </p:nvSpPr>
        <p:spPr>
          <a:xfrm>
            <a:off x="654685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9" name="Text 17"/>
          <p:cNvSpPr/>
          <p:nvPr/>
        </p:nvSpPr>
        <p:spPr>
          <a:xfrm>
            <a:off x="6764866"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Trainer</a:t>
            </a:r>
            <a:endParaRPr lang="en-US" sz="1875" dirty="0"/>
          </a:p>
        </p:txBody>
      </p:sp>
      <p:sp>
        <p:nvSpPr>
          <p:cNvPr id="20" name="Shape 18"/>
          <p:cNvSpPr/>
          <p:nvPr/>
        </p:nvSpPr>
        <p:spPr>
          <a:xfrm>
            <a:off x="654685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1" name="Text 19"/>
          <p:cNvSpPr/>
          <p:nvPr/>
        </p:nvSpPr>
        <p:spPr>
          <a:xfrm>
            <a:off x="6764866"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Assessment</a:t>
            </a:r>
            <a:endParaRPr lang="en-US" sz="1875" dirty="0"/>
          </a:p>
        </p:txBody>
      </p:sp>
      <p:sp>
        <p:nvSpPr>
          <p:cNvPr id="22" name="Shape 20"/>
          <p:cNvSpPr/>
          <p:nvPr/>
        </p:nvSpPr>
        <p:spPr>
          <a:xfrm>
            <a:off x="654685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3" name="Text 21"/>
          <p:cNvSpPr/>
          <p:nvPr/>
        </p:nvSpPr>
        <p:spPr>
          <a:xfrm>
            <a:off x="6764866"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Workout Programme</a:t>
            </a:r>
            <a:endParaRPr lang="en-US" sz="1875" dirty="0"/>
          </a:p>
        </p:txBody>
      </p:sp>
      <p:sp>
        <p:nvSpPr>
          <p:cNvPr id="24" name="Shape 22"/>
          <p:cNvSpPr/>
          <p:nvPr/>
        </p:nvSpPr>
        <p:spPr>
          <a:xfrm>
            <a:off x="654685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5" name="Text 23"/>
          <p:cNvSpPr/>
          <p:nvPr/>
        </p:nvSpPr>
        <p:spPr>
          <a:xfrm>
            <a:off x="6764866"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Class</a:t>
            </a:r>
            <a:endParaRPr lang="en-US" sz="1875" dirty="0"/>
          </a:p>
        </p:txBody>
      </p:sp>
      <p:sp>
        <p:nvSpPr>
          <p:cNvPr id="26" name="Shape 24"/>
          <p:cNvSpPr/>
          <p:nvPr/>
        </p:nvSpPr>
        <p:spPr>
          <a:xfrm>
            <a:off x="6546850" y="60176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7" name="Text 25"/>
          <p:cNvSpPr/>
          <p:nvPr/>
        </p:nvSpPr>
        <p:spPr>
          <a:xfrm>
            <a:off x="6764866" y="61976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Schedule</a:t>
            </a:r>
            <a:endParaRPr lang="en-US" sz="1875" dirty="0"/>
          </a:p>
        </p:txBody>
      </p:sp>
      <p:sp>
        <p:nvSpPr>
          <p:cNvPr id="28" name="Text 26"/>
          <p:cNvSpPr/>
          <p:nvPr/>
        </p:nvSpPr>
        <p:spPr>
          <a:xfrm>
            <a:off x="1202690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ACTIVITY &amp; OPERATIONS</a:t>
            </a:r>
            <a:endParaRPr lang="en-US" sz="1500" dirty="0"/>
          </a:p>
        </p:txBody>
      </p:sp>
      <p:sp>
        <p:nvSpPr>
          <p:cNvPr id="29" name="Shape 27"/>
          <p:cNvSpPr/>
          <p:nvPr/>
        </p:nvSpPr>
        <p:spPr>
          <a:xfrm>
            <a:off x="1202690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0" name="Text 28"/>
          <p:cNvSpPr/>
          <p:nvPr/>
        </p:nvSpPr>
        <p:spPr>
          <a:xfrm>
            <a:off x="12244916"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Registration</a:t>
            </a:r>
            <a:endParaRPr lang="en-US" sz="1875" dirty="0"/>
          </a:p>
        </p:txBody>
      </p:sp>
      <p:sp>
        <p:nvSpPr>
          <p:cNvPr id="31" name="Shape 29"/>
          <p:cNvSpPr/>
          <p:nvPr/>
        </p:nvSpPr>
        <p:spPr>
          <a:xfrm>
            <a:off x="1202690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2" name="Text 30"/>
          <p:cNvSpPr/>
          <p:nvPr/>
        </p:nvSpPr>
        <p:spPr>
          <a:xfrm>
            <a:off x="12244916"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Attendance</a:t>
            </a:r>
            <a:endParaRPr lang="en-US" sz="1875" dirty="0"/>
          </a:p>
        </p:txBody>
      </p:sp>
      <p:sp>
        <p:nvSpPr>
          <p:cNvPr id="33" name="Shape 31"/>
          <p:cNvSpPr/>
          <p:nvPr/>
        </p:nvSpPr>
        <p:spPr>
          <a:xfrm>
            <a:off x="1202690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4" name="Text 32"/>
          <p:cNvSpPr/>
          <p:nvPr/>
        </p:nvSpPr>
        <p:spPr>
          <a:xfrm>
            <a:off x="12244916"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Equipment</a:t>
            </a:r>
            <a:endParaRPr lang="en-US" sz="1875" dirty="0"/>
          </a:p>
        </p:txBody>
      </p:sp>
      <p:sp>
        <p:nvSpPr>
          <p:cNvPr id="35" name="Shape 33"/>
          <p:cNvSpPr/>
          <p:nvPr/>
        </p:nvSpPr>
        <p:spPr>
          <a:xfrm>
            <a:off x="1202690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6" name="Text 34"/>
          <p:cNvSpPr/>
          <p:nvPr/>
        </p:nvSpPr>
        <p:spPr>
          <a:xfrm>
            <a:off x="12244916"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Maintenance</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571500" y="457200"/>
            <a:ext cx="6537232"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571500" y="797983"/>
            <a:ext cx="6537232" cy="457200"/>
          </a:xfrm>
          <a:prstGeom prst="rect">
            <a:avLst/>
          </a:prstGeom>
          <a:noFill/>
          <a:ln/>
        </p:spPr>
        <p:txBody>
          <a:bodyPr wrap="square" lIns="25400" tIns="25400" rIns="25400" bIns="25400" rtlCol="0" anchor="t">
            <a:normAutofit/>
          </a:bodyPr>
          <a:lstStyle/>
          <a:p>
            <a:pPr algn="l" indent="0" marL="0">
              <a:lnSpc>
                <a:spcPct val="75000"/>
              </a:lnSpc>
              <a:buNone/>
            </a:pPr>
            <a:r>
              <a:rPr lang="en-US" sz="3300" b="1" dirty="0">
                <a:solidFill>
                  <a:srgbClr val="F3F0E7"/>
                </a:solidFill>
                <a:latin typeface="Archivo Black" pitchFamily="34" charset="0"/>
                <a:ea typeface="Archivo Black" pitchFamily="34" charset="-122"/>
                <a:cs typeface="Archivo Black" pitchFamily="34" charset="-120"/>
              </a:rPr>
              <a:t>Entity–Relationship model</a:t>
            </a:r>
            <a:endParaRPr lang="en-US" sz="3300" dirty="0"/>
          </a:p>
        </p:txBody>
      </p:sp>
      <p:sp>
        <p:nvSpPr>
          <p:cNvPr id="6" name="Text 4"/>
          <p:cNvSpPr/>
          <p:nvPr/>
        </p:nvSpPr>
        <p:spPr>
          <a:xfrm>
            <a:off x="14338059" y="465667"/>
            <a:ext cx="3378441" cy="552450"/>
          </a:xfrm>
          <a:prstGeom prst="rect">
            <a:avLst/>
          </a:prstGeom>
          <a:noFill/>
          <a:ln/>
        </p:spPr>
        <p:txBody>
          <a:bodyPr wrap="square" lIns="25400" tIns="25400" rIns="25400" bIns="25400" rtlCol="0" anchor="t">
            <a:normAutofit/>
          </a:bodyPr>
          <a:lstStyle/>
          <a:p>
            <a:pPr algn="r" indent="0" marL="0">
              <a:lnSpc>
                <a:spcPct val="121500"/>
              </a:lnSpc>
              <a:buNone/>
            </a:pPr>
            <a:r>
              <a:rPr lang="en-US" sz="1350" dirty="0">
                <a:solidFill>
                  <a:srgbClr val="7D7C8C"/>
                </a:solidFill>
                <a:latin typeface="Inter" pitchFamily="34" charset="0"/>
                <a:ea typeface="Inter" pitchFamily="34" charset="-122"/>
                <a:cs typeface="Inter" pitchFamily="34" charset="-120"/>
              </a:rPr>
              <a:t>Arrow points 1 → N (one-to-many) Dashed inner border = associative entity</a:t>
            </a:r>
            <a:endParaRPr lang="en-US" sz="1350" dirty="0"/>
          </a:p>
        </p:txBody>
      </p:sp>
      <p:pic>
        <p:nvPicPr>
          <p:cNvPr id="7" name="Image 0" descr="preencoded.png">    </p:cNvPr>
          <p:cNvPicPr>
            <a:picLocks noChangeAspect="1"/>
          </p:cNvPicPr>
          <p:nvPr/>
        </p:nvPicPr>
        <p:blipFill>
          <a:blip r:embed="rId1"/>
          <a:stretch>
            <a:fillRect/>
          </a:stretch>
        </p:blipFill>
        <p:spPr>
          <a:xfrm>
            <a:off x="571500" y="1388533"/>
            <a:ext cx="12515850" cy="8180917"/>
          </a:xfrm>
          <a:prstGeom prst="rect">
            <a:avLst/>
          </a:prstGeom>
        </p:spPr>
      </p:pic>
      <p:sp>
        <p:nvSpPr>
          <p:cNvPr id="8" name="Shape 5"/>
          <p:cNvSpPr/>
          <p:nvPr/>
        </p:nvSpPr>
        <p:spPr>
          <a:xfrm>
            <a:off x="13411200" y="1388533"/>
            <a:ext cx="4305300" cy="8180917"/>
          </a:xfrm>
          <a:prstGeom prst="roundRect">
            <a:avLst>
              <a:gd name="adj" fmla="val 3982"/>
            </a:avLst>
          </a:prstGeom>
          <a:solidFill>
            <a:srgbClr val="FFFFFF">
              <a:alpha val="3000"/>
            </a:srgbClr>
          </a:solidFill>
          <a:ln w="8467">
            <a:solidFill>
              <a:srgbClr val="FFFFFF">
                <a:alpha val="13000"/>
              </a:srgbClr>
            </a:solidFill>
            <a:prstDash val="solid"/>
          </a:ln>
        </p:spPr>
      </p:sp>
      <p:sp>
        <p:nvSpPr>
          <p:cNvPr id="9" name="Text 6"/>
          <p:cNvSpPr/>
          <p:nvPr/>
        </p:nvSpPr>
        <p:spPr>
          <a:xfrm>
            <a:off x="13705417" y="1644650"/>
            <a:ext cx="4088553" cy="241300"/>
          </a:xfrm>
          <a:prstGeom prst="rect">
            <a:avLst/>
          </a:prstGeom>
          <a:noFill/>
          <a:ln/>
        </p:spPr>
        <p:txBody>
          <a:bodyPr wrap="square" lIns="25400" tIns="25400" rIns="25400" bIns="25400" rtlCol="0" anchor="t">
            <a:normAutofit/>
          </a:bodyPr>
          <a:lstStyle/>
          <a:p>
            <a:pPr algn="l" indent="0" marL="0">
              <a:buNone/>
            </a:pPr>
            <a:r>
              <a:rPr lang="en-US" sz="1275" b="1" spc="204" kern="0" dirty="0">
                <a:solidFill>
                  <a:srgbClr val="CFC9FF"/>
                </a:solidFill>
                <a:latin typeface="Inter" pitchFamily="34" charset="0"/>
                <a:ea typeface="Inter" pitchFamily="34" charset="-122"/>
                <a:cs typeface="Inter" pitchFamily="34" charset="-120"/>
              </a:rPr>
              <a:t>KEY RELATIONSHIPS</a:t>
            </a:r>
            <a:endParaRPr lang="en-US" sz="1275" dirty="0"/>
          </a:p>
        </p:txBody>
      </p:sp>
      <p:sp>
        <p:nvSpPr>
          <p:cNvPr id="10" name="Shape 7"/>
          <p:cNvSpPr/>
          <p:nvPr/>
        </p:nvSpPr>
        <p:spPr>
          <a:xfrm>
            <a:off x="13705417" y="2459567"/>
            <a:ext cx="3716867" cy="9525"/>
          </a:xfrm>
          <a:prstGeom prst="rect">
            <a:avLst/>
          </a:prstGeom>
          <a:solidFill>
            <a:srgbClr val="FFFFFF">
              <a:alpha val="7000"/>
            </a:srgbClr>
          </a:solidFill>
          <a:ln/>
        </p:spPr>
      </p:sp>
      <p:sp>
        <p:nvSpPr>
          <p:cNvPr id="11" name="Text 8"/>
          <p:cNvSpPr/>
          <p:nvPr/>
        </p:nvSpPr>
        <p:spPr>
          <a:xfrm>
            <a:off x="13705417" y="21132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Member → Subscription</a:t>
            </a:r>
            <a:endParaRPr lang="en-US" sz="1350" dirty="0"/>
          </a:p>
        </p:txBody>
      </p:sp>
      <p:sp>
        <p:nvSpPr>
          <p:cNvPr id="12" name="Shape 9"/>
          <p:cNvSpPr/>
          <p:nvPr/>
        </p:nvSpPr>
        <p:spPr>
          <a:xfrm>
            <a:off x="16731721" y="20859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13" name="Text 10"/>
          <p:cNvSpPr/>
          <p:nvPr/>
        </p:nvSpPr>
        <p:spPr>
          <a:xfrm>
            <a:off x="16854487" y="21230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14" name="Shape 11"/>
          <p:cNvSpPr/>
          <p:nvPr/>
        </p:nvSpPr>
        <p:spPr>
          <a:xfrm>
            <a:off x="13705417" y="2946400"/>
            <a:ext cx="3716867" cy="9525"/>
          </a:xfrm>
          <a:prstGeom prst="rect">
            <a:avLst/>
          </a:prstGeom>
          <a:solidFill>
            <a:srgbClr val="FFFFFF">
              <a:alpha val="7000"/>
            </a:srgbClr>
          </a:solidFill>
          <a:ln/>
        </p:spPr>
      </p:sp>
      <p:sp>
        <p:nvSpPr>
          <p:cNvPr id="15" name="Text 12"/>
          <p:cNvSpPr/>
          <p:nvPr/>
        </p:nvSpPr>
        <p:spPr>
          <a:xfrm>
            <a:off x="13705417" y="2600060"/>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Plan → Subscription</a:t>
            </a:r>
            <a:endParaRPr lang="en-US" sz="1350" dirty="0"/>
          </a:p>
        </p:txBody>
      </p:sp>
      <p:sp>
        <p:nvSpPr>
          <p:cNvPr id="16" name="Shape 13"/>
          <p:cNvSpPr/>
          <p:nvPr/>
        </p:nvSpPr>
        <p:spPr>
          <a:xfrm>
            <a:off x="16731721" y="2572808"/>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17" name="Text 14"/>
          <p:cNvSpPr/>
          <p:nvPr/>
        </p:nvSpPr>
        <p:spPr>
          <a:xfrm>
            <a:off x="16854487" y="26098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18" name="Shape 15"/>
          <p:cNvSpPr/>
          <p:nvPr/>
        </p:nvSpPr>
        <p:spPr>
          <a:xfrm>
            <a:off x="13705417" y="3433233"/>
            <a:ext cx="3716867" cy="9525"/>
          </a:xfrm>
          <a:prstGeom prst="rect">
            <a:avLst/>
          </a:prstGeom>
          <a:solidFill>
            <a:srgbClr val="FFFFFF">
              <a:alpha val="7000"/>
            </a:srgbClr>
          </a:solidFill>
          <a:ln/>
        </p:spPr>
      </p:sp>
      <p:sp>
        <p:nvSpPr>
          <p:cNvPr id="19" name="Text 16"/>
          <p:cNvSpPr/>
          <p:nvPr/>
        </p:nvSpPr>
        <p:spPr>
          <a:xfrm>
            <a:off x="13705417" y="30868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Subscription → Payment</a:t>
            </a:r>
            <a:endParaRPr lang="en-US" sz="1350" dirty="0"/>
          </a:p>
        </p:txBody>
      </p:sp>
      <p:sp>
        <p:nvSpPr>
          <p:cNvPr id="20" name="Shape 17"/>
          <p:cNvSpPr/>
          <p:nvPr/>
        </p:nvSpPr>
        <p:spPr>
          <a:xfrm>
            <a:off x="16731721" y="30596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21" name="Text 18"/>
          <p:cNvSpPr/>
          <p:nvPr/>
        </p:nvSpPr>
        <p:spPr>
          <a:xfrm>
            <a:off x="16854487" y="3096683"/>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22" name="Shape 19"/>
          <p:cNvSpPr/>
          <p:nvPr/>
        </p:nvSpPr>
        <p:spPr>
          <a:xfrm>
            <a:off x="13705417" y="3920067"/>
            <a:ext cx="3716867" cy="9525"/>
          </a:xfrm>
          <a:prstGeom prst="rect">
            <a:avLst/>
          </a:prstGeom>
          <a:solidFill>
            <a:srgbClr val="FFFFFF">
              <a:alpha val="7000"/>
            </a:srgbClr>
          </a:solidFill>
          <a:ln/>
        </p:spPr>
      </p:sp>
      <p:sp>
        <p:nvSpPr>
          <p:cNvPr id="23" name="Text 20"/>
          <p:cNvSpPr/>
          <p:nvPr/>
        </p:nvSpPr>
        <p:spPr>
          <a:xfrm>
            <a:off x="13705417" y="35737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Subscription → Renewal</a:t>
            </a:r>
            <a:endParaRPr lang="en-US" sz="1350" dirty="0"/>
          </a:p>
        </p:txBody>
      </p:sp>
      <p:sp>
        <p:nvSpPr>
          <p:cNvPr id="24" name="Shape 21"/>
          <p:cNvSpPr/>
          <p:nvPr/>
        </p:nvSpPr>
        <p:spPr>
          <a:xfrm>
            <a:off x="16731721" y="35464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25" name="Text 22"/>
          <p:cNvSpPr/>
          <p:nvPr/>
        </p:nvSpPr>
        <p:spPr>
          <a:xfrm>
            <a:off x="16854487" y="35835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26" name="Shape 23"/>
          <p:cNvSpPr/>
          <p:nvPr/>
        </p:nvSpPr>
        <p:spPr>
          <a:xfrm>
            <a:off x="13705417" y="4406900"/>
            <a:ext cx="3716867" cy="9525"/>
          </a:xfrm>
          <a:prstGeom prst="rect">
            <a:avLst/>
          </a:prstGeom>
          <a:solidFill>
            <a:srgbClr val="FFFFFF">
              <a:alpha val="7000"/>
            </a:srgbClr>
          </a:solidFill>
          <a:ln/>
        </p:spPr>
      </p:sp>
      <p:sp>
        <p:nvSpPr>
          <p:cNvPr id="27" name="Text 24"/>
          <p:cNvSpPr/>
          <p:nvPr/>
        </p:nvSpPr>
        <p:spPr>
          <a:xfrm>
            <a:off x="13705417" y="4060561"/>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Member ↔ Class</a:t>
            </a:r>
            <a:endParaRPr lang="en-US" sz="1350" dirty="0"/>
          </a:p>
        </p:txBody>
      </p:sp>
      <p:sp>
        <p:nvSpPr>
          <p:cNvPr id="28" name="Shape 25"/>
          <p:cNvSpPr/>
          <p:nvPr/>
        </p:nvSpPr>
        <p:spPr>
          <a:xfrm>
            <a:off x="16731721" y="4033308"/>
            <a:ext cx="690563" cy="268817"/>
          </a:xfrm>
          <a:prstGeom prst="roundRect">
            <a:avLst>
              <a:gd name="adj" fmla="val 28346"/>
            </a:avLst>
          </a:prstGeom>
          <a:solidFill>
            <a:srgbClr val="E6B84B">
              <a:alpha val="16000"/>
            </a:srgbClr>
          </a:solidFill>
          <a:ln w="8467">
            <a:solidFill>
              <a:srgbClr val="E6B84B">
                <a:alpha val="50000"/>
              </a:srgbClr>
            </a:solidFill>
            <a:prstDash val="solid"/>
          </a:ln>
        </p:spPr>
      </p:sp>
      <p:sp>
        <p:nvSpPr>
          <p:cNvPr id="29" name="Text 26"/>
          <p:cNvSpPr/>
          <p:nvPr/>
        </p:nvSpPr>
        <p:spPr>
          <a:xfrm>
            <a:off x="16854487" y="40703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E6B84B"/>
                </a:solidFill>
                <a:latin typeface="Courier New" pitchFamily="34" charset="0"/>
                <a:ea typeface="Courier New" pitchFamily="34" charset="-122"/>
                <a:cs typeface="Courier New" pitchFamily="34" charset="-120"/>
              </a:rPr>
              <a:t>M : N</a:t>
            </a:r>
            <a:endParaRPr lang="en-US" sz="1275" dirty="0"/>
          </a:p>
        </p:txBody>
      </p:sp>
      <p:sp>
        <p:nvSpPr>
          <p:cNvPr id="30" name="Shape 27"/>
          <p:cNvSpPr/>
          <p:nvPr/>
        </p:nvSpPr>
        <p:spPr>
          <a:xfrm>
            <a:off x="13705417" y="4893733"/>
            <a:ext cx="3716867" cy="9525"/>
          </a:xfrm>
          <a:prstGeom prst="rect">
            <a:avLst/>
          </a:prstGeom>
          <a:solidFill>
            <a:srgbClr val="FFFFFF">
              <a:alpha val="7000"/>
            </a:srgbClr>
          </a:solidFill>
          <a:ln/>
        </p:spPr>
      </p:sp>
      <p:sp>
        <p:nvSpPr>
          <p:cNvPr id="31" name="Text 28"/>
          <p:cNvSpPr/>
          <p:nvPr/>
        </p:nvSpPr>
        <p:spPr>
          <a:xfrm>
            <a:off x="13705417" y="45473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Class → Schedule</a:t>
            </a:r>
            <a:endParaRPr lang="en-US" sz="1350" dirty="0"/>
          </a:p>
        </p:txBody>
      </p:sp>
      <p:sp>
        <p:nvSpPr>
          <p:cNvPr id="32" name="Shape 29"/>
          <p:cNvSpPr/>
          <p:nvPr/>
        </p:nvSpPr>
        <p:spPr>
          <a:xfrm>
            <a:off x="16731721" y="45201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33" name="Text 30"/>
          <p:cNvSpPr/>
          <p:nvPr/>
        </p:nvSpPr>
        <p:spPr>
          <a:xfrm>
            <a:off x="16854487" y="4557183"/>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34" name="Shape 31"/>
          <p:cNvSpPr/>
          <p:nvPr/>
        </p:nvSpPr>
        <p:spPr>
          <a:xfrm>
            <a:off x="13705417" y="5380567"/>
            <a:ext cx="3716867" cy="9525"/>
          </a:xfrm>
          <a:prstGeom prst="rect">
            <a:avLst/>
          </a:prstGeom>
          <a:solidFill>
            <a:srgbClr val="FFFFFF">
              <a:alpha val="7000"/>
            </a:srgbClr>
          </a:solidFill>
          <a:ln/>
        </p:spPr>
      </p:sp>
      <p:sp>
        <p:nvSpPr>
          <p:cNvPr id="35" name="Text 32"/>
          <p:cNvSpPr/>
          <p:nvPr/>
        </p:nvSpPr>
        <p:spPr>
          <a:xfrm>
            <a:off x="13705417" y="50342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Trainer → Class</a:t>
            </a:r>
            <a:endParaRPr lang="en-US" sz="1350" dirty="0"/>
          </a:p>
        </p:txBody>
      </p:sp>
      <p:sp>
        <p:nvSpPr>
          <p:cNvPr id="36" name="Shape 33"/>
          <p:cNvSpPr/>
          <p:nvPr/>
        </p:nvSpPr>
        <p:spPr>
          <a:xfrm>
            <a:off x="16731721" y="50069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37" name="Text 34"/>
          <p:cNvSpPr/>
          <p:nvPr/>
        </p:nvSpPr>
        <p:spPr>
          <a:xfrm>
            <a:off x="16854487" y="50440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38" name="Shape 35"/>
          <p:cNvSpPr/>
          <p:nvPr/>
        </p:nvSpPr>
        <p:spPr>
          <a:xfrm>
            <a:off x="13705417" y="5867400"/>
            <a:ext cx="3716867" cy="9525"/>
          </a:xfrm>
          <a:prstGeom prst="rect">
            <a:avLst/>
          </a:prstGeom>
          <a:solidFill>
            <a:srgbClr val="FFFFFF">
              <a:alpha val="7000"/>
            </a:srgbClr>
          </a:solidFill>
          <a:ln/>
        </p:spPr>
      </p:sp>
      <p:sp>
        <p:nvSpPr>
          <p:cNvPr id="39" name="Text 36"/>
          <p:cNvSpPr/>
          <p:nvPr/>
        </p:nvSpPr>
        <p:spPr>
          <a:xfrm>
            <a:off x="13705417" y="5521061"/>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Trainer / Member → Assessment</a:t>
            </a:r>
            <a:endParaRPr lang="en-US" sz="1350" dirty="0"/>
          </a:p>
        </p:txBody>
      </p:sp>
      <p:sp>
        <p:nvSpPr>
          <p:cNvPr id="40" name="Shape 37"/>
          <p:cNvSpPr/>
          <p:nvPr/>
        </p:nvSpPr>
        <p:spPr>
          <a:xfrm>
            <a:off x="16731721" y="5493808"/>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41" name="Text 38"/>
          <p:cNvSpPr/>
          <p:nvPr/>
        </p:nvSpPr>
        <p:spPr>
          <a:xfrm>
            <a:off x="16854487" y="55308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42" name="Text 39"/>
          <p:cNvSpPr/>
          <p:nvPr/>
        </p:nvSpPr>
        <p:spPr>
          <a:xfrm>
            <a:off x="13705417" y="60078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Equipment → Maintenance</a:t>
            </a:r>
            <a:endParaRPr lang="en-US" sz="1350" dirty="0"/>
          </a:p>
        </p:txBody>
      </p:sp>
      <p:sp>
        <p:nvSpPr>
          <p:cNvPr id="43" name="Shape 40"/>
          <p:cNvSpPr/>
          <p:nvPr/>
        </p:nvSpPr>
        <p:spPr>
          <a:xfrm>
            <a:off x="16731721" y="59806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44" name="Text 41"/>
          <p:cNvSpPr/>
          <p:nvPr/>
        </p:nvSpPr>
        <p:spPr>
          <a:xfrm>
            <a:off x="16854487" y="6017684"/>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45" name="Text 42"/>
          <p:cNvSpPr/>
          <p:nvPr/>
        </p:nvSpPr>
        <p:spPr>
          <a:xfrm>
            <a:off x="13705417" y="8856133"/>
            <a:ext cx="3828373" cy="495300"/>
          </a:xfrm>
          <a:prstGeom prst="rect">
            <a:avLst/>
          </a:prstGeom>
          <a:noFill/>
          <a:ln/>
        </p:spPr>
        <p:txBody>
          <a:bodyPr wrap="square" lIns="25400" tIns="25400" rIns="25400" bIns="25400" rtlCol="0" anchor="t">
            <a:normAutofit/>
          </a:bodyPr>
          <a:lstStyle/>
          <a:p>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Member ↔ Class is resolved through </a:t>
            </a:r>
            <a:pPr algn="l" indent="0" marL="0">
              <a:lnSpc>
                <a:spcPct val="128571"/>
              </a:lnSpc>
              <a:buNone/>
            </a:pPr>
            <a:r>
              <a:rPr lang="en-US" sz="1200" dirty="0">
                <a:solidFill>
                  <a:srgbClr val="A7A6B6"/>
                </a:solidFill>
                <a:latin typeface="Inter" pitchFamily="34" charset="0"/>
                <a:ea typeface="Inter" pitchFamily="34" charset="-122"/>
                <a:cs typeface="Inter" pitchFamily="34" charset="-120"/>
              </a:rPr>
              <a:t>Registration </a:t>
            </a:r>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 each registration has a 1:1 </a:t>
            </a:r>
            <a:pPr algn="l" indent="0" marL="0">
              <a:lnSpc>
                <a:spcPct val="128571"/>
              </a:lnSpc>
              <a:buNone/>
            </a:pPr>
            <a:r>
              <a:rPr lang="en-US" sz="1200" dirty="0">
                <a:solidFill>
                  <a:srgbClr val="A7A6B6"/>
                </a:solidFill>
                <a:latin typeface="Inter" pitchFamily="34" charset="0"/>
                <a:ea typeface="Inter" pitchFamily="34" charset="-122"/>
                <a:cs typeface="Inter" pitchFamily="34" charset="-120"/>
              </a:rPr>
              <a:t>Attendance </a:t>
            </a:r>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record.</a:t>
            </a:r>
            <a:endParaRPr lang="en-US" sz="1200" dirty="0"/>
          </a:p>
        </p:txBody>
      </p:sp>
      <p:sp>
        <p:nvSpPr>
          <p:cNvPr id="46" name="Shape 43"/>
          <p:cNvSpPr/>
          <p:nvPr/>
        </p:nvSpPr>
        <p:spPr>
          <a:xfrm>
            <a:off x="571500" y="9752012"/>
            <a:ext cx="142875" cy="142875"/>
          </a:xfrm>
          <a:prstGeom prst="roundRect">
            <a:avLst>
              <a:gd name="adj" fmla="val 26667"/>
            </a:avLst>
          </a:prstGeom>
          <a:ln w="8467">
            <a:solidFill>
              <a:srgbClr val="CFC9FF">
                <a:alpha val="60000"/>
              </a:srgbClr>
            </a:solidFill>
            <a:prstDash val="dash"/>
          </a:ln>
        </p:spPr>
      </p:sp>
      <p:sp>
        <p:nvSpPr>
          <p:cNvPr id="47" name="Text 44"/>
          <p:cNvSpPr/>
          <p:nvPr/>
        </p:nvSpPr>
        <p:spPr>
          <a:xfrm>
            <a:off x="800100" y="9721850"/>
            <a:ext cx="2340412" cy="241300"/>
          </a:xfrm>
          <a:prstGeom prst="rect">
            <a:avLst/>
          </a:prstGeom>
          <a:noFill/>
          <a:ln/>
        </p:spPr>
        <p:txBody>
          <a:bodyPr wrap="square" lIns="25400" tIns="25400" rIns="25400" bIns="25400" rtlCol="0" anchor="t">
            <a:normAutofit/>
          </a:bodyPr>
          <a:lstStyle/>
          <a:p>
            <a:pPr algn="l" indent="0" marL="0">
              <a:buNone/>
            </a:pPr>
            <a:r>
              <a:rPr lang="en-US" sz="1275" dirty="0">
                <a:solidFill>
                  <a:srgbClr val="A7A6B6"/>
                </a:solidFill>
                <a:latin typeface="Inter" pitchFamily="34" charset="0"/>
                <a:ea typeface="Inter" pitchFamily="34" charset="-122"/>
                <a:cs typeface="Inter" pitchFamily="34" charset="-120"/>
              </a:rPr>
              <a:t>Associative (junction) entity</a:t>
            </a:r>
            <a:endParaRPr lang="en-US" sz="1275" dirty="0"/>
          </a:p>
        </p:txBody>
      </p:sp>
      <p:sp>
        <p:nvSpPr>
          <p:cNvPr id="48" name="Text 45"/>
          <p:cNvSpPr/>
          <p:nvPr/>
        </p:nvSpPr>
        <p:spPr>
          <a:xfrm>
            <a:off x="3175397" y="9721850"/>
            <a:ext cx="3194764" cy="241300"/>
          </a:xfrm>
          <a:prstGeom prst="rect">
            <a:avLst/>
          </a:prstGeom>
          <a:noFill/>
          <a:ln/>
        </p:spPr>
        <p:txBody>
          <a:bodyPr wrap="square" lIns="25400" tIns="25400" rIns="25400" bIns="25400" rtlCol="0" anchor="t">
            <a:normAutofit/>
          </a:bodyPr>
          <a:lstStyle/>
          <a:p>
            <a:pPr algn="l" indent="0" marL="0">
              <a:buNone/>
            </a:pPr>
            <a:r>
              <a:rPr lang="en-US" sz="1275" dirty="0">
                <a:solidFill>
                  <a:srgbClr val="A7A6B6"/>
                </a:solidFill>
                <a:latin typeface="Inter" pitchFamily="34" charset="0"/>
                <a:ea typeface="Inter" pitchFamily="34" charset="-122"/>
                <a:cs typeface="Inter" pitchFamily="34" charset="-120"/>
              </a:rPr>
              <a:t>1:N one-to-many · M:N many-to-many</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914400" y="609600"/>
            <a:ext cx="1810512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914400" y="969433"/>
            <a:ext cx="18105120" cy="495300"/>
          </a:xfrm>
          <a:prstGeom prst="rect">
            <a:avLst/>
          </a:prstGeom>
          <a:noFill/>
          <a:ln/>
        </p:spPr>
        <p:txBody>
          <a:bodyPr wrap="square" lIns="25400" tIns="25400" rIns="25400" bIns="25400" rtlCol="0" anchor="t">
            <a:normAutofit/>
          </a:bodyPr>
          <a:lstStyle/>
          <a:p>
            <a:pPr algn="l" indent="0" marL="0">
              <a:lnSpc>
                <a:spcPct val="73973"/>
              </a:lnSpc>
              <a:buNone/>
            </a:pPr>
            <a:r>
              <a:rPr lang="en-US" sz="3600" b="1" dirty="0">
                <a:solidFill>
                  <a:srgbClr val="F3F0E7"/>
                </a:solidFill>
                <a:latin typeface="Archivo Black" pitchFamily="34" charset="0"/>
                <a:ea typeface="Archivo Black" pitchFamily="34" charset="-122"/>
                <a:cs typeface="Archivo Black" pitchFamily="34" charset="-120"/>
              </a:rPr>
              <a:t>Core entities &amp; key attributes</a:t>
            </a:r>
            <a:endParaRPr lang="en-US" sz="3600" dirty="0"/>
          </a:p>
        </p:txBody>
      </p:sp>
      <p:sp>
        <p:nvSpPr>
          <p:cNvPr id="6" name="Shape 4"/>
          <p:cNvSpPr/>
          <p:nvPr/>
        </p:nvSpPr>
        <p:spPr>
          <a:xfrm>
            <a:off x="914400" y="1693333"/>
            <a:ext cx="16459200" cy="6161617"/>
          </a:xfrm>
          <a:prstGeom prst="roundRect">
            <a:avLst>
              <a:gd name="adj" fmla="val 2473"/>
            </a:avLst>
          </a:prstGeom>
          <a:ln w="8467">
            <a:solidFill>
              <a:srgbClr val="FFFFFF">
                <a:alpha val="13000"/>
              </a:srgbClr>
            </a:solidFill>
            <a:prstDash val="solid"/>
          </a:ln>
        </p:spPr>
      </p:sp>
      <p:sp>
        <p:nvSpPr>
          <p:cNvPr id="7" name="Shape 5"/>
          <p:cNvSpPr/>
          <p:nvPr/>
        </p:nvSpPr>
        <p:spPr>
          <a:xfrm>
            <a:off x="922867" y="1701800"/>
            <a:ext cx="16442267" cy="533400"/>
          </a:xfrm>
          <a:prstGeom prst="rect">
            <a:avLst/>
          </a:prstGeom>
          <a:solidFill>
            <a:srgbClr val="8F80FF">
              <a:alpha val="16000"/>
            </a:srgbClr>
          </a:solidFill>
          <a:ln/>
        </p:spPr>
      </p:sp>
      <p:sp>
        <p:nvSpPr>
          <p:cNvPr id="8" name="Text 6"/>
          <p:cNvSpPr/>
          <p:nvPr/>
        </p:nvSpPr>
        <p:spPr>
          <a:xfrm>
            <a:off x="1208617" y="1854200"/>
            <a:ext cx="2371725" cy="26670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F3F0E7"/>
                </a:solidFill>
                <a:latin typeface="Inter" pitchFamily="34" charset="0"/>
                <a:ea typeface="Inter" pitchFamily="34" charset="-122"/>
                <a:cs typeface="Inter" pitchFamily="34" charset="-120"/>
              </a:rPr>
              <a:t>ENTITY</a:t>
            </a:r>
            <a:endParaRPr lang="en-US" sz="1500" dirty="0"/>
          </a:p>
        </p:txBody>
      </p:sp>
      <p:sp>
        <p:nvSpPr>
          <p:cNvPr id="9" name="Text 7"/>
          <p:cNvSpPr/>
          <p:nvPr/>
        </p:nvSpPr>
        <p:spPr>
          <a:xfrm>
            <a:off x="4066117" y="1854200"/>
            <a:ext cx="13420810" cy="26670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F3F0E7"/>
                </a:solidFill>
                <a:latin typeface="Inter" pitchFamily="34" charset="0"/>
                <a:ea typeface="Inter" pitchFamily="34" charset="-122"/>
                <a:cs typeface="Inter" pitchFamily="34" charset="-120"/>
              </a:rPr>
              <a:t>KEY ATTRIBUTES </a:t>
            </a:r>
            <a:pPr algn="l" indent="0" marL="0">
              <a:buNone/>
            </a:pPr>
            <a:r>
              <a:rPr lang="en-US" sz="1500" b="1" spc="90" kern="0" dirty="0">
                <a:solidFill>
                  <a:srgbClr val="E6B84B"/>
                </a:solidFill>
                <a:latin typeface="Inter" pitchFamily="34" charset="0"/>
                <a:ea typeface="Inter" pitchFamily="34" charset="-122"/>
                <a:cs typeface="Inter" pitchFamily="34" charset="-120"/>
              </a:rPr>
              <a:t>(PRIMARY KEY UNDERLINED)</a:t>
            </a:r>
            <a:endParaRPr lang="en-US" sz="1500" dirty="0"/>
          </a:p>
        </p:txBody>
      </p:sp>
      <p:sp>
        <p:nvSpPr>
          <p:cNvPr id="10" name="Shape 8"/>
          <p:cNvSpPr/>
          <p:nvPr/>
        </p:nvSpPr>
        <p:spPr>
          <a:xfrm>
            <a:off x="922867" y="2235200"/>
            <a:ext cx="16442267" cy="9525"/>
          </a:xfrm>
          <a:prstGeom prst="rect">
            <a:avLst/>
          </a:prstGeom>
          <a:solidFill>
            <a:srgbClr val="FFFFFF">
              <a:alpha val="8000"/>
            </a:srgbClr>
          </a:solidFill>
          <a:ln/>
        </p:spPr>
      </p:sp>
      <p:sp>
        <p:nvSpPr>
          <p:cNvPr id="11" name="Text 9"/>
          <p:cNvSpPr/>
          <p:nvPr/>
        </p:nvSpPr>
        <p:spPr>
          <a:xfrm>
            <a:off x="1208617" y="236749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Member</a:t>
            </a:r>
            <a:endParaRPr lang="en-US" sz="1650" dirty="0"/>
          </a:p>
        </p:txBody>
      </p:sp>
      <p:sp>
        <p:nvSpPr>
          <p:cNvPr id="12" name="Text 10"/>
          <p:cNvSpPr/>
          <p:nvPr/>
        </p:nvSpPr>
        <p:spPr>
          <a:xfrm>
            <a:off x="4066117" y="236749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member_id</a:t>
            </a:r>
            <a:pPr algn="l" indent="0" marL="0">
              <a:buNone/>
            </a:pPr>
            <a:r>
              <a:rPr lang="en-US" sz="1650" dirty="0">
                <a:solidFill>
                  <a:srgbClr val="A7A6B6"/>
                </a:solidFill>
                <a:latin typeface="Inter" pitchFamily="34" charset="0"/>
                <a:ea typeface="Inter" pitchFamily="34" charset="-122"/>
                <a:cs typeface="Inter" pitchFamily="34" charset="-120"/>
              </a:rPr>
              <a:t>, name, phone, email, dob, join_date</a:t>
            </a:r>
            <a:endParaRPr lang="en-US" sz="1650" dirty="0"/>
          </a:p>
        </p:txBody>
      </p:sp>
      <p:sp>
        <p:nvSpPr>
          <p:cNvPr id="13" name="Shape 11"/>
          <p:cNvSpPr/>
          <p:nvPr/>
        </p:nvSpPr>
        <p:spPr>
          <a:xfrm>
            <a:off x="922867" y="2745317"/>
            <a:ext cx="16442267" cy="9525"/>
          </a:xfrm>
          <a:prstGeom prst="rect">
            <a:avLst/>
          </a:prstGeom>
          <a:solidFill>
            <a:srgbClr val="FFFFFF">
              <a:alpha val="8000"/>
            </a:srgbClr>
          </a:solidFill>
          <a:ln/>
        </p:spPr>
      </p:sp>
      <p:sp>
        <p:nvSpPr>
          <p:cNvPr id="14" name="Text 12"/>
          <p:cNvSpPr/>
          <p:nvPr/>
        </p:nvSpPr>
        <p:spPr>
          <a:xfrm>
            <a:off x="1208617" y="287760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Plan</a:t>
            </a:r>
            <a:endParaRPr lang="en-US" sz="1650" dirty="0"/>
          </a:p>
        </p:txBody>
      </p:sp>
      <p:sp>
        <p:nvSpPr>
          <p:cNvPr id="15" name="Text 13"/>
          <p:cNvSpPr/>
          <p:nvPr/>
        </p:nvSpPr>
        <p:spPr>
          <a:xfrm>
            <a:off x="4066117" y="287760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plan_id</a:t>
            </a:r>
            <a:pPr algn="l" indent="0" marL="0">
              <a:buNone/>
            </a:pPr>
            <a:r>
              <a:rPr lang="en-US" sz="1650" dirty="0">
                <a:solidFill>
                  <a:srgbClr val="A7A6B6"/>
                </a:solidFill>
                <a:latin typeface="Inter" pitchFamily="34" charset="0"/>
                <a:ea typeface="Inter" pitchFamily="34" charset="-122"/>
                <a:cs typeface="Inter" pitchFamily="34" charset="-120"/>
              </a:rPr>
              <a:t>, name, duration_months, price, features</a:t>
            </a:r>
            <a:endParaRPr lang="en-US" sz="1650" dirty="0"/>
          </a:p>
        </p:txBody>
      </p:sp>
      <p:sp>
        <p:nvSpPr>
          <p:cNvPr id="16" name="Shape 14"/>
          <p:cNvSpPr/>
          <p:nvPr/>
        </p:nvSpPr>
        <p:spPr>
          <a:xfrm>
            <a:off x="922867" y="3255433"/>
            <a:ext cx="16442267" cy="9525"/>
          </a:xfrm>
          <a:prstGeom prst="rect">
            <a:avLst/>
          </a:prstGeom>
          <a:solidFill>
            <a:srgbClr val="FFFFFF">
              <a:alpha val="8000"/>
            </a:srgbClr>
          </a:solidFill>
          <a:ln/>
        </p:spPr>
      </p:sp>
      <p:sp>
        <p:nvSpPr>
          <p:cNvPr id="17" name="Text 15"/>
          <p:cNvSpPr/>
          <p:nvPr/>
        </p:nvSpPr>
        <p:spPr>
          <a:xfrm>
            <a:off x="1208617" y="338772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Subscription</a:t>
            </a:r>
            <a:endParaRPr lang="en-US" sz="1650" dirty="0"/>
          </a:p>
        </p:txBody>
      </p:sp>
      <p:sp>
        <p:nvSpPr>
          <p:cNvPr id="18" name="Text 16"/>
          <p:cNvSpPr/>
          <p:nvPr/>
        </p:nvSpPr>
        <p:spPr>
          <a:xfrm>
            <a:off x="4066117" y="338772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subscription_id</a:t>
            </a:r>
            <a:pPr algn="l" indent="0" marL="0">
              <a:buNone/>
            </a:pPr>
            <a:r>
              <a:rPr lang="en-US" sz="1650" dirty="0">
                <a:solidFill>
                  <a:srgbClr val="A7A6B6"/>
                </a:solidFill>
                <a:latin typeface="Inter" pitchFamily="34" charset="0"/>
                <a:ea typeface="Inter" pitchFamily="34" charset="-122"/>
                <a:cs typeface="Inter" pitchFamily="34" charset="-120"/>
              </a:rPr>
              <a:t>, member_id, plan_id, start_date, end_date, status</a:t>
            </a:r>
            <a:endParaRPr lang="en-US" sz="1650" dirty="0"/>
          </a:p>
        </p:txBody>
      </p:sp>
      <p:sp>
        <p:nvSpPr>
          <p:cNvPr id="19" name="Shape 17"/>
          <p:cNvSpPr/>
          <p:nvPr/>
        </p:nvSpPr>
        <p:spPr>
          <a:xfrm>
            <a:off x="922867" y="3765550"/>
            <a:ext cx="16442267" cy="9525"/>
          </a:xfrm>
          <a:prstGeom prst="rect">
            <a:avLst/>
          </a:prstGeom>
          <a:solidFill>
            <a:srgbClr val="FFFFFF">
              <a:alpha val="8000"/>
            </a:srgbClr>
          </a:solidFill>
          <a:ln/>
        </p:spPr>
      </p:sp>
      <p:sp>
        <p:nvSpPr>
          <p:cNvPr id="20" name="Text 18"/>
          <p:cNvSpPr/>
          <p:nvPr/>
        </p:nvSpPr>
        <p:spPr>
          <a:xfrm>
            <a:off x="1208617" y="389784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Trainer</a:t>
            </a:r>
            <a:endParaRPr lang="en-US" sz="1650" dirty="0"/>
          </a:p>
        </p:txBody>
      </p:sp>
      <p:sp>
        <p:nvSpPr>
          <p:cNvPr id="21" name="Text 19"/>
          <p:cNvSpPr/>
          <p:nvPr/>
        </p:nvSpPr>
        <p:spPr>
          <a:xfrm>
            <a:off x="4066117" y="389784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trainer_id</a:t>
            </a:r>
            <a:pPr algn="l" indent="0" marL="0">
              <a:buNone/>
            </a:pPr>
            <a:r>
              <a:rPr lang="en-US" sz="1650" dirty="0">
                <a:solidFill>
                  <a:srgbClr val="A7A6B6"/>
                </a:solidFill>
                <a:latin typeface="Inter" pitchFamily="34" charset="0"/>
                <a:ea typeface="Inter" pitchFamily="34" charset="-122"/>
                <a:cs typeface="Inter" pitchFamily="34" charset="-120"/>
              </a:rPr>
              <a:t>, name, specialization, shift, phone</a:t>
            </a:r>
            <a:endParaRPr lang="en-US" sz="1650" dirty="0"/>
          </a:p>
        </p:txBody>
      </p:sp>
      <p:sp>
        <p:nvSpPr>
          <p:cNvPr id="22" name="Shape 20"/>
          <p:cNvSpPr/>
          <p:nvPr/>
        </p:nvSpPr>
        <p:spPr>
          <a:xfrm>
            <a:off x="922867" y="4275667"/>
            <a:ext cx="16442267" cy="9525"/>
          </a:xfrm>
          <a:prstGeom prst="rect">
            <a:avLst/>
          </a:prstGeom>
          <a:solidFill>
            <a:srgbClr val="FFFFFF">
              <a:alpha val="8000"/>
            </a:srgbClr>
          </a:solidFill>
          <a:ln/>
        </p:spPr>
      </p:sp>
      <p:sp>
        <p:nvSpPr>
          <p:cNvPr id="23" name="Text 21"/>
          <p:cNvSpPr/>
          <p:nvPr/>
        </p:nvSpPr>
        <p:spPr>
          <a:xfrm>
            <a:off x="1208617" y="440795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Assessment</a:t>
            </a:r>
            <a:endParaRPr lang="en-US" sz="1650" dirty="0"/>
          </a:p>
        </p:txBody>
      </p:sp>
      <p:sp>
        <p:nvSpPr>
          <p:cNvPr id="24" name="Text 22"/>
          <p:cNvSpPr/>
          <p:nvPr/>
        </p:nvSpPr>
        <p:spPr>
          <a:xfrm>
            <a:off x="4066117" y="440795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assessment_id</a:t>
            </a:r>
            <a:pPr algn="l" indent="0" marL="0">
              <a:buNone/>
            </a:pPr>
            <a:r>
              <a:rPr lang="en-US" sz="1650" dirty="0">
                <a:solidFill>
                  <a:srgbClr val="A7A6B6"/>
                </a:solidFill>
                <a:latin typeface="Inter" pitchFamily="34" charset="0"/>
                <a:ea typeface="Inter" pitchFamily="34" charset="-122"/>
                <a:cs typeface="Inter" pitchFamily="34" charset="-120"/>
              </a:rPr>
              <a:t>, member_id, trainer_id, date, weight, bmi, body_fat</a:t>
            </a:r>
            <a:endParaRPr lang="en-US" sz="1650" dirty="0"/>
          </a:p>
        </p:txBody>
      </p:sp>
      <p:sp>
        <p:nvSpPr>
          <p:cNvPr id="25" name="Shape 23"/>
          <p:cNvSpPr/>
          <p:nvPr/>
        </p:nvSpPr>
        <p:spPr>
          <a:xfrm>
            <a:off x="922867" y="4785783"/>
            <a:ext cx="16442267" cy="9525"/>
          </a:xfrm>
          <a:prstGeom prst="rect">
            <a:avLst/>
          </a:prstGeom>
          <a:solidFill>
            <a:srgbClr val="FFFFFF">
              <a:alpha val="8000"/>
            </a:srgbClr>
          </a:solidFill>
          <a:ln/>
        </p:spPr>
      </p:sp>
      <p:sp>
        <p:nvSpPr>
          <p:cNvPr id="26" name="Text 24"/>
          <p:cNvSpPr/>
          <p:nvPr/>
        </p:nvSpPr>
        <p:spPr>
          <a:xfrm>
            <a:off x="1208617" y="491807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Class</a:t>
            </a:r>
            <a:endParaRPr lang="en-US" sz="1650" dirty="0"/>
          </a:p>
        </p:txBody>
      </p:sp>
      <p:sp>
        <p:nvSpPr>
          <p:cNvPr id="27" name="Text 25"/>
          <p:cNvSpPr/>
          <p:nvPr/>
        </p:nvSpPr>
        <p:spPr>
          <a:xfrm>
            <a:off x="4066117" y="491807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class_id</a:t>
            </a:r>
            <a:pPr algn="l" indent="0" marL="0">
              <a:buNone/>
            </a:pPr>
            <a:r>
              <a:rPr lang="en-US" sz="1650" dirty="0">
                <a:solidFill>
                  <a:srgbClr val="A7A6B6"/>
                </a:solidFill>
                <a:latin typeface="Inter" pitchFamily="34" charset="0"/>
                <a:ea typeface="Inter" pitchFamily="34" charset="-122"/>
                <a:cs typeface="Inter" pitchFamily="34" charset="-120"/>
              </a:rPr>
              <a:t>, trainer_id, title, capacity, room</a:t>
            </a:r>
            <a:endParaRPr lang="en-US" sz="1650" dirty="0"/>
          </a:p>
        </p:txBody>
      </p:sp>
      <p:sp>
        <p:nvSpPr>
          <p:cNvPr id="28" name="Shape 26"/>
          <p:cNvSpPr/>
          <p:nvPr/>
        </p:nvSpPr>
        <p:spPr>
          <a:xfrm>
            <a:off x="922867" y="5295900"/>
            <a:ext cx="16442267" cy="9525"/>
          </a:xfrm>
          <a:prstGeom prst="rect">
            <a:avLst/>
          </a:prstGeom>
          <a:solidFill>
            <a:srgbClr val="FFFFFF">
              <a:alpha val="8000"/>
            </a:srgbClr>
          </a:solidFill>
          <a:ln/>
        </p:spPr>
      </p:sp>
      <p:sp>
        <p:nvSpPr>
          <p:cNvPr id="29" name="Text 27"/>
          <p:cNvSpPr/>
          <p:nvPr/>
        </p:nvSpPr>
        <p:spPr>
          <a:xfrm>
            <a:off x="1208617" y="542819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Schedule</a:t>
            </a:r>
            <a:endParaRPr lang="en-US" sz="1650" dirty="0"/>
          </a:p>
        </p:txBody>
      </p:sp>
      <p:sp>
        <p:nvSpPr>
          <p:cNvPr id="30" name="Text 28"/>
          <p:cNvSpPr/>
          <p:nvPr/>
        </p:nvSpPr>
        <p:spPr>
          <a:xfrm>
            <a:off x="4066117" y="542819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schedule_id</a:t>
            </a:r>
            <a:pPr algn="l" indent="0" marL="0">
              <a:buNone/>
            </a:pPr>
            <a:r>
              <a:rPr lang="en-US" sz="1650" dirty="0">
                <a:solidFill>
                  <a:srgbClr val="A7A6B6"/>
                </a:solidFill>
                <a:latin typeface="Inter" pitchFamily="34" charset="0"/>
                <a:ea typeface="Inter" pitchFamily="34" charset="-122"/>
                <a:cs typeface="Inter" pitchFamily="34" charset="-120"/>
              </a:rPr>
              <a:t>, class_id, day, start_time, end_time</a:t>
            </a:r>
            <a:endParaRPr lang="en-US" sz="1650" dirty="0"/>
          </a:p>
        </p:txBody>
      </p:sp>
      <p:sp>
        <p:nvSpPr>
          <p:cNvPr id="31" name="Shape 29"/>
          <p:cNvSpPr/>
          <p:nvPr/>
        </p:nvSpPr>
        <p:spPr>
          <a:xfrm>
            <a:off x="922867" y="5806017"/>
            <a:ext cx="16442267" cy="9525"/>
          </a:xfrm>
          <a:prstGeom prst="rect">
            <a:avLst/>
          </a:prstGeom>
          <a:solidFill>
            <a:srgbClr val="FFFFFF">
              <a:alpha val="8000"/>
            </a:srgbClr>
          </a:solidFill>
          <a:ln/>
        </p:spPr>
      </p:sp>
      <p:sp>
        <p:nvSpPr>
          <p:cNvPr id="32" name="Text 30"/>
          <p:cNvSpPr/>
          <p:nvPr/>
        </p:nvSpPr>
        <p:spPr>
          <a:xfrm>
            <a:off x="1208617" y="593830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Registration</a:t>
            </a:r>
            <a:endParaRPr lang="en-US" sz="1650" dirty="0"/>
          </a:p>
        </p:txBody>
      </p:sp>
      <p:sp>
        <p:nvSpPr>
          <p:cNvPr id="33" name="Text 31"/>
          <p:cNvSpPr/>
          <p:nvPr/>
        </p:nvSpPr>
        <p:spPr>
          <a:xfrm>
            <a:off x="4066117" y="593830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registration_id</a:t>
            </a:r>
            <a:pPr algn="l" indent="0" marL="0">
              <a:buNone/>
            </a:pPr>
            <a:r>
              <a:rPr lang="en-US" sz="1650" dirty="0">
                <a:solidFill>
                  <a:srgbClr val="A7A6B6"/>
                </a:solidFill>
                <a:latin typeface="Inter" pitchFamily="34" charset="0"/>
                <a:ea typeface="Inter" pitchFamily="34" charset="-122"/>
                <a:cs typeface="Inter" pitchFamily="34" charset="-120"/>
              </a:rPr>
              <a:t>, member_id, schedule_id, booking_date, status</a:t>
            </a:r>
            <a:endParaRPr lang="en-US" sz="1650" dirty="0"/>
          </a:p>
        </p:txBody>
      </p:sp>
      <p:sp>
        <p:nvSpPr>
          <p:cNvPr id="34" name="Shape 32"/>
          <p:cNvSpPr/>
          <p:nvPr/>
        </p:nvSpPr>
        <p:spPr>
          <a:xfrm>
            <a:off x="922867" y="6316134"/>
            <a:ext cx="16442267" cy="9525"/>
          </a:xfrm>
          <a:prstGeom prst="rect">
            <a:avLst/>
          </a:prstGeom>
          <a:solidFill>
            <a:srgbClr val="FFFFFF">
              <a:alpha val="8000"/>
            </a:srgbClr>
          </a:solidFill>
          <a:ln/>
        </p:spPr>
      </p:sp>
      <p:sp>
        <p:nvSpPr>
          <p:cNvPr id="35" name="Text 33"/>
          <p:cNvSpPr/>
          <p:nvPr/>
        </p:nvSpPr>
        <p:spPr>
          <a:xfrm>
            <a:off x="1208617" y="644842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Attendance</a:t>
            </a:r>
            <a:endParaRPr lang="en-US" sz="1650" dirty="0"/>
          </a:p>
        </p:txBody>
      </p:sp>
      <p:sp>
        <p:nvSpPr>
          <p:cNvPr id="36" name="Text 34"/>
          <p:cNvSpPr/>
          <p:nvPr/>
        </p:nvSpPr>
        <p:spPr>
          <a:xfrm>
            <a:off x="4066117" y="644842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attendance_id</a:t>
            </a:r>
            <a:pPr algn="l" indent="0" marL="0">
              <a:buNone/>
            </a:pPr>
            <a:r>
              <a:rPr lang="en-US" sz="1650" dirty="0">
                <a:solidFill>
                  <a:srgbClr val="A7A6B6"/>
                </a:solidFill>
                <a:latin typeface="Inter" pitchFamily="34" charset="0"/>
                <a:ea typeface="Inter" pitchFamily="34" charset="-122"/>
                <a:cs typeface="Inter" pitchFamily="34" charset="-120"/>
              </a:rPr>
              <a:t>, registration_id, check_in, check_out</a:t>
            </a:r>
            <a:endParaRPr lang="en-US" sz="1650" dirty="0"/>
          </a:p>
        </p:txBody>
      </p:sp>
      <p:sp>
        <p:nvSpPr>
          <p:cNvPr id="37" name="Shape 35"/>
          <p:cNvSpPr/>
          <p:nvPr/>
        </p:nvSpPr>
        <p:spPr>
          <a:xfrm>
            <a:off x="922867" y="6826250"/>
            <a:ext cx="16442267" cy="9525"/>
          </a:xfrm>
          <a:prstGeom prst="rect">
            <a:avLst/>
          </a:prstGeom>
          <a:solidFill>
            <a:srgbClr val="FFFFFF">
              <a:alpha val="8000"/>
            </a:srgbClr>
          </a:solidFill>
          <a:ln/>
        </p:spPr>
      </p:sp>
      <p:sp>
        <p:nvSpPr>
          <p:cNvPr id="38" name="Text 36"/>
          <p:cNvSpPr/>
          <p:nvPr/>
        </p:nvSpPr>
        <p:spPr>
          <a:xfrm>
            <a:off x="1208617" y="695854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Payment</a:t>
            </a:r>
            <a:endParaRPr lang="en-US" sz="1650" dirty="0"/>
          </a:p>
        </p:txBody>
      </p:sp>
      <p:sp>
        <p:nvSpPr>
          <p:cNvPr id="39" name="Text 37"/>
          <p:cNvSpPr/>
          <p:nvPr/>
        </p:nvSpPr>
        <p:spPr>
          <a:xfrm>
            <a:off x="4066117" y="695854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payment_id</a:t>
            </a:r>
            <a:pPr algn="l" indent="0" marL="0">
              <a:buNone/>
            </a:pPr>
            <a:r>
              <a:rPr lang="en-US" sz="1650" dirty="0">
                <a:solidFill>
                  <a:srgbClr val="A7A6B6"/>
                </a:solidFill>
                <a:latin typeface="Inter" pitchFamily="34" charset="0"/>
                <a:ea typeface="Inter" pitchFamily="34" charset="-122"/>
                <a:cs typeface="Inter" pitchFamily="34" charset="-120"/>
              </a:rPr>
              <a:t>, subscription_id, amount, method, paid_on</a:t>
            </a:r>
            <a:endParaRPr lang="en-US" sz="1650" dirty="0"/>
          </a:p>
        </p:txBody>
      </p:sp>
      <p:sp>
        <p:nvSpPr>
          <p:cNvPr id="40" name="Shape 38"/>
          <p:cNvSpPr/>
          <p:nvPr/>
        </p:nvSpPr>
        <p:spPr>
          <a:xfrm>
            <a:off x="922867" y="7336367"/>
            <a:ext cx="16442267" cy="9525"/>
          </a:xfrm>
          <a:prstGeom prst="rect">
            <a:avLst/>
          </a:prstGeom>
          <a:solidFill>
            <a:srgbClr val="FFFFFF">
              <a:alpha val="8000"/>
            </a:srgbClr>
          </a:solidFill>
          <a:ln/>
        </p:spPr>
      </p:sp>
      <p:sp>
        <p:nvSpPr>
          <p:cNvPr id="41" name="Text 39"/>
          <p:cNvSpPr/>
          <p:nvPr/>
        </p:nvSpPr>
        <p:spPr>
          <a:xfrm>
            <a:off x="1208617" y="7468659"/>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Equipment</a:t>
            </a:r>
            <a:endParaRPr lang="en-US" sz="1650" dirty="0"/>
          </a:p>
        </p:txBody>
      </p:sp>
      <p:sp>
        <p:nvSpPr>
          <p:cNvPr id="42" name="Text 40"/>
          <p:cNvSpPr/>
          <p:nvPr/>
        </p:nvSpPr>
        <p:spPr>
          <a:xfrm>
            <a:off x="4066117" y="7468659"/>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equipment_id</a:t>
            </a:r>
            <a:pPr algn="l" indent="0" marL="0">
              <a:buNone/>
            </a:pPr>
            <a:r>
              <a:rPr lang="en-US" sz="1650" dirty="0">
                <a:solidFill>
                  <a:srgbClr val="A7A6B6"/>
                </a:solidFill>
                <a:latin typeface="Inter" pitchFamily="34" charset="0"/>
                <a:ea typeface="Inter" pitchFamily="34" charset="-122"/>
                <a:cs typeface="Inter" pitchFamily="34" charset="-120"/>
              </a:rPr>
              <a:t>, name, category, purchase_date, status · </a:t>
            </a:r>
            <a:pPr algn="l" indent="0" marL="0">
              <a:buNone/>
            </a:pPr>
            <a:r>
              <a:rPr lang="en-US" sz="1650" dirty="0">
                <a:solidFill>
                  <a:srgbClr val="7D7C8C"/>
                </a:solidFill>
                <a:latin typeface="Inter" pitchFamily="34" charset="0"/>
                <a:ea typeface="Inter" pitchFamily="34" charset="-122"/>
                <a:cs typeface="Inter" pitchFamily="34" charset="-120"/>
              </a:rPr>
              <a:t>Maintenance: </a:t>
            </a:r>
            <a:pPr algn="l" indent="0" marL="0">
              <a:buNone/>
            </a:pPr>
            <a:r>
              <a:rPr lang="en-US" sz="1650" u="sng" dirty="0">
                <a:solidFill>
                  <a:srgbClr val="CFC9FF"/>
                </a:solidFill>
                <a:latin typeface="Inter" pitchFamily="34" charset="0"/>
                <a:ea typeface="Inter" pitchFamily="34" charset="-122"/>
                <a:cs typeface="Inter" pitchFamily="34" charset="-120"/>
              </a:rPr>
              <a:t>maintenance_id</a:t>
            </a:r>
            <a:pPr algn="l" indent="0" marL="0">
              <a:buNone/>
            </a:pPr>
            <a:r>
              <a:rPr lang="en-US" sz="1650" dirty="0">
                <a:solidFill>
                  <a:srgbClr val="A7A6B6"/>
                </a:solidFill>
                <a:latin typeface="Inter" pitchFamily="34" charset="0"/>
                <a:ea typeface="Inter" pitchFamily="34" charset="-122"/>
                <a:cs typeface="Inter" pitchFamily="34" charset="-120"/>
              </a:rPr>
              <a:t>, equipment_id, date, cost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857250" y="533400"/>
            <a:ext cx="1823085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INITIAL RELATIONAL SCHEMA · MYSQL</a:t>
            </a:r>
            <a:endParaRPr lang="en-US" sz="1575" dirty="0"/>
          </a:p>
        </p:txBody>
      </p:sp>
      <p:sp>
        <p:nvSpPr>
          <p:cNvPr id="5" name="Text 3"/>
          <p:cNvSpPr/>
          <p:nvPr/>
        </p:nvSpPr>
        <p:spPr>
          <a:xfrm>
            <a:off x="857250" y="874183"/>
            <a:ext cx="18230850" cy="476250"/>
          </a:xfrm>
          <a:prstGeom prst="rect">
            <a:avLst/>
          </a:prstGeom>
          <a:noFill/>
          <a:ln/>
        </p:spPr>
        <p:txBody>
          <a:bodyPr wrap="square" lIns="25400" tIns="25400" rIns="25400" bIns="25400" rtlCol="0" anchor="t">
            <a:normAutofit/>
          </a:bodyPr>
          <a:lstStyle/>
          <a:p>
            <a:pPr algn="l" indent="0" marL="0">
              <a:lnSpc>
                <a:spcPct val="73929"/>
              </a:lnSpc>
              <a:buNone/>
            </a:pPr>
            <a:r>
              <a:rPr lang="en-US" sz="3450" b="1" dirty="0">
                <a:solidFill>
                  <a:srgbClr val="F3F0E7"/>
                </a:solidFill>
                <a:latin typeface="Archivo Black" pitchFamily="34" charset="0"/>
                <a:ea typeface="Archivo Black" pitchFamily="34" charset="-122"/>
                <a:cs typeface="Archivo Black" pitchFamily="34" charset="-120"/>
              </a:rPr>
              <a:t>Tables, primary &amp; foreign keys</a:t>
            </a:r>
            <a:endParaRPr lang="en-US" sz="3450" dirty="0"/>
          </a:p>
        </p:txBody>
      </p:sp>
      <p:sp>
        <p:nvSpPr>
          <p:cNvPr id="6" name="Shape 4"/>
          <p:cNvSpPr/>
          <p:nvPr/>
        </p:nvSpPr>
        <p:spPr>
          <a:xfrm>
            <a:off x="857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7" name="Shape 5"/>
          <p:cNvSpPr/>
          <p:nvPr/>
        </p:nvSpPr>
        <p:spPr>
          <a:xfrm>
            <a:off x="865717" y="1568450"/>
            <a:ext cx="5380567" cy="516467"/>
          </a:xfrm>
          <a:prstGeom prst="rect">
            <a:avLst/>
          </a:prstGeom>
          <a:solidFill>
            <a:srgbClr val="8F80FF">
              <a:alpha val="16000"/>
            </a:srgbClr>
          </a:solidFill>
          <a:ln/>
        </p:spPr>
      </p:sp>
      <p:sp>
        <p:nvSpPr>
          <p:cNvPr id="8" name="Text 6"/>
          <p:cNvSpPr/>
          <p:nvPr/>
        </p:nvSpPr>
        <p:spPr>
          <a:xfrm>
            <a:off x="1056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MEMBER</a:t>
            </a:r>
            <a:endParaRPr lang="en-US" sz="1650" dirty="0"/>
          </a:p>
        </p:txBody>
      </p:sp>
      <p:sp>
        <p:nvSpPr>
          <p:cNvPr id="9" name="Text 7"/>
          <p:cNvSpPr/>
          <p:nvPr/>
        </p:nvSpPr>
        <p:spPr>
          <a:xfrm>
            <a:off x="1056217" y="2218267"/>
            <a:ext cx="971550"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member_id</a:t>
            </a:r>
            <a:endParaRPr lang="en-US" sz="1425" dirty="0"/>
          </a:p>
        </p:txBody>
      </p:sp>
      <p:sp>
        <p:nvSpPr>
          <p:cNvPr id="10" name="Shape 8"/>
          <p:cNvSpPr/>
          <p:nvPr/>
        </p:nvSpPr>
        <p:spPr>
          <a:xfrm>
            <a:off x="2051050" y="2251075"/>
            <a:ext cx="348589" cy="179917"/>
          </a:xfrm>
          <a:prstGeom prst="roundRect">
            <a:avLst>
              <a:gd name="adj" fmla="val 31765"/>
            </a:avLst>
          </a:prstGeom>
          <a:solidFill>
            <a:srgbClr val="E6B84B">
              <a:alpha val="16000"/>
            </a:srgbClr>
          </a:solidFill>
          <a:ln/>
        </p:spPr>
      </p:sp>
      <p:sp>
        <p:nvSpPr>
          <p:cNvPr id="11" name="Text 9"/>
          <p:cNvSpPr/>
          <p:nvPr/>
        </p:nvSpPr>
        <p:spPr>
          <a:xfrm>
            <a:off x="2127250"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12" name="Text 10"/>
          <p:cNvSpPr/>
          <p:nvPr/>
        </p:nvSpPr>
        <p:spPr>
          <a:xfrm>
            <a:off x="1056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name, phone, email</a:t>
            </a:r>
            <a:endParaRPr lang="en-US" sz="1425" dirty="0"/>
          </a:p>
        </p:txBody>
      </p:sp>
      <p:sp>
        <p:nvSpPr>
          <p:cNvPr id="13" name="Text 11"/>
          <p:cNvSpPr/>
          <p:nvPr/>
        </p:nvSpPr>
        <p:spPr>
          <a:xfrm>
            <a:off x="1056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dob, join_date</a:t>
            </a:r>
            <a:endParaRPr lang="en-US" sz="1425" dirty="0"/>
          </a:p>
        </p:txBody>
      </p:sp>
      <p:sp>
        <p:nvSpPr>
          <p:cNvPr id="14" name="Shape 12"/>
          <p:cNvSpPr/>
          <p:nvPr/>
        </p:nvSpPr>
        <p:spPr>
          <a:xfrm>
            <a:off x="6445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15" name="Shape 13"/>
          <p:cNvSpPr/>
          <p:nvPr/>
        </p:nvSpPr>
        <p:spPr>
          <a:xfrm>
            <a:off x="6453717" y="1568450"/>
            <a:ext cx="5380567" cy="516467"/>
          </a:xfrm>
          <a:prstGeom prst="rect">
            <a:avLst/>
          </a:prstGeom>
          <a:solidFill>
            <a:srgbClr val="8F80FF">
              <a:alpha val="16000"/>
            </a:srgbClr>
          </a:solidFill>
          <a:ln/>
        </p:spPr>
      </p:sp>
      <p:sp>
        <p:nvSpPr>
          <p:cNvPr id="16" name="Text 14"/>
          <p:cNvSpPr/>
          <p:nvPr/>
        </p:nvSpPr>
        <p:spPr>
          <a:xfrm>
            <a:off x="6644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PLAN</a:t>
            </a:r>
            <a:endParaRPr lang="en-US" sz="1650" dirty="0"/>
          </a:p>
        </p:txBody>
      </p:sp>
      <p:sp>
        <p:nvSpPr>
          <p:cNvPr id="17" name="Text 15"/>
          <p:cNvSpPr/>
          <p:nvPr/>
        </p:nvSpPr>
        <p:spPr>
          <a:xfrm>
            <a:off x="6644217" y="2218267"/>
            <a:ext cx="772583"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plan_id</a:t>
            </a:r>
            <a:endParaRPr lang="en-US" sz="1425" dirty="0"/>
          </a:p>
        </p:txBody>
      </p:sp>
      <p:sp>
        <p:nvSpPr>
          <p:cNvPr id="18" name="Shape 16"/>
          <p:cNvSpPr/>
          <p:nvPr/>
        </p:nvSpPr>
        <p:spPr>
          <a:xfrm>
            <a:off x="7440084" y="2251075"/>
            <a:ext cx="348589" cy="179917"/>
          </a:xfrm>
          <a:prstGeom prst="roundRect">
            <a:avLst>
              <a:gd name="adj" fmla="val 31765"/>
            </a:avLst>
          </a:prstGeom>
          <a:solidFill>
            <a:srgbClr val="E6B84B">
              <a:alpha val="16000"/>
            </a:srgbClr>
          </a:solidFill>
          <a:ln/>
        </p:spPr>
      </p:sp>
      <p:sp>
        <p:nvSpPr>
          <p:cNvPr id="19" name="Text 17"/>
          <p:cNvSpPr/>
          <p:nvPr/>
        </p:nvSpPr>
        <p:spPr>
          <a:xfrm>
            <a:off x="7516284"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20" name="Text 18"/>
          <p:cNvSpPr/>
          <p:nvPr/>
        </p:nvSpPr>
        <p:spPr>
          <a:xfrm>
            <a:off x="6644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name, duration_months</a:t>
            </a:r>
            <a:endParaRPr lang="en-US" sz="1425" dirty="0"/>
          </a:p>
        </p:txBody>
      </p:sp>
      <p:sp>
        <p:nvSpPr>
          <p:cNvPr id="21" name="Text 19"/>
          <p:cNvSpPr/>
          <p:nvPr/>
        </p:nvSpPr>
        <p:spPr>
          <a:xfrm>
            <a:off x="6644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price, features</a:t>
            </a:r>
            <a:endParaRPr lang="en-US" sz="1425" dirty="0"/>
          </a:p>
        </p:txBody>
      </p:sp>
      <p:sp>
        <p:nvSpPr>
          <p:cNvPr id="22" name="Shape 20"/>
          <p:cNvSpPr/>
          <p:nvPr/>
        </p:nvSpPr>
        <p:spPr>
          <a:xfrm>
            <a:off x="12033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23" name="Shape 21"/>
          <p:cNvSpPr/>
          <p:nvPr/>
        </p:nvSpPr>
        <p:spPr>
          <a:xfrm>
            <a:off x="12041717" y="1568450"/>
            <a:ext cx="5380567" cy="516467"/>
          </a:xfrm>
          <a:prstGeom prst="rect">
            <a:avLst/>
          </a:prstGeom>
          <a:solidFill>
            <a:srgbClr val="8F80FF">
              <a:alpha val="16000"/>
            </a:srgbClr>
          </a:solidFill>
          <a:ln/>
        </p:spPr>
      </p:sp>
      <p:sp>
        <p:nvSpPr>
          <p:cNvPr id="24" name="Text 22"/>
          <p:cNvSpPr/>
          <p:nvPr/>
        </p:nvSpPr>
        <p:spPr>
          <a:xfrm>
            <a:off x="12232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SUBSCRIPTION</a:t>
            </a:r>
            <a:endParaRPr lang="en-US" sz="1650" dirty="0"/>
          </a:p>
        </p:txBody>
      </p:sp>
      <p:sp>
        <p:nvSpPr>
          <p:cNvPr id="25" name="Text 23"/>
          <p:cNvSpPr/>
          <p:nvPr/>
        </p:nvSpPr>
        <p:spPr>
          <a:xfrm>
            <a:off x="12232217" y="2218267"/>
            <a:ext cx="1641475"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subscription_id</a:t>
            </a:r>
            <a:endParaRPr lang="en-US" sz="1425" dirty="0"/>
          </a:p>
        </p:txBody>
      </p:sp>
      <p:sp>
        <p:nvSpPr>
          <p:cNvPr id="26" name="Shape 24"/>
          <p:cNvSpPr/>
          <p:nvPr/>
        </p:nvSpPr>
        <p:spPr>
          <a:xfrm>
            <a:off x="13823950" y="2251075"/>
            <a:ext cx="348589" cy="179917"/>
          </a:xfrm>
          <a:prstGeom prst="roundRect">
            <a:avLst>
              <a:gd name="adj" fmla="val 31765"/>
            </a:avLst>
          </a:prstGeom>
          <a:solidFill>
            <a:srgbClr val="E6B84B">
              <a:alpha val="16000"/>
            </a:srgbClr>
          </a:solidFill>
          <a:ln/>
        </p:spPr>
      </p:sp>
      <p:sp>
        <p:nvSpPr>
          <p:cNvPr id="27" name="Text 25"/>
          <p:cNvSpPr/>
          <p:nvPr/>
        </p:nvSpPr>
        <p:spPr>
          <a:xfrm>
            <a:off x="13900150"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28" name="Text 26"/>
          <p:cNvSpPr/>
          <p:nvPr/>
        </p:nvSpPr>
        <p:spPr>
          <a:xfrm>
            <a:off x="12232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member_id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 </a:t>
            </a:r>
            <a:pPr algn="l" indent="0" marL="0">
              <a:buNone/>
            </a:pPr>
            <a:r>
              <a:rPr lang="en-US" sz="1425" dirty="0">
                <a:solidFill>
                  <a:srgbClr val="A7A6B6"/>
                </a:solidFill>
                <a:latin typeface="Courier New" pitchFamily="34" charset="0"/>
                <a:ea typeface="Courier New" pitchFamily="34" charset="-122"/>
                <a:cs typeface="Courier New" pitchFamily="34" charset="-120"/>
              </a:rPr>
              <a:t>plan_id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29" name="Text 27"/>
          <p:cNvSpPr/>
          <p:nvPr/>
        </p:nvSpPr>
        <p:spPr>
          <a:xfrm>
            <a:off x="12232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start_date, end_date, status</a:t>
            </a:r>
            <a:endParaRPr lang="en-US" sz="1425" dirty="0"/>
          </a:p>
        </p:txBody>
      </p:sp>
      <p:sp>
        <p:nvSpPr>
          <p:cNvPr id="30" name="Shape 28"/>
          <p:cNvSpPr/>
          <p:nvPr/>
        </p:nvSpPr>
        <p:spPr>
          <a:xfrm>
            <a:off x="857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31" name="Shape 29"/>
          <p:cNvSpPr/>
          <p:nvPr/>
        </p:nvSpPr>
        <p:spPr>
          <a:xfrm>
            <a:off x="865717" y="3346450"/>
            <a:ext cx="5380567" cy="516467"/>
          </a:xfrm>
          <a:prstGeom prst="rect">
            <a:avLst/>
          </a:prstGeom>
          <a:solidFill>
            <a:srgbClr val="8F80FF">
              <a:alpha val="16000"/>
            </a:srgbClr>
          </a:solidFill>
          <a:ln/>
        </p:spPr>
      </p:sp>
      <p:sp>
        <p:nvSpPr>
          <p:cNvPr id="32" name="Text 30"/>
          <p:cNvSpPr/>
          <p:nvPr/>
        </p:nvSpPr>
        <p:spPr>
          <a:xfrm>
            <a:off x="1056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CLASS</a:t>
            </a:r>
            <a:endParaRPr lang="en-US" sz="1650" dirty="0"/>
          </a:p>
        </p:txBody>
      </p:sp>
      <p:sp>
        <p:nvSpPr>
          <p:cNvPr id="33" name="Text 31"/>
          <p:cNvSpPr/>
          <p:nvPr/>
        </p:nvSpPr>
        <p:spPr>
          <a:xfrm>
            <a:off x="1056217" y="3996267"/>
            <a:ext cx="872067"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class_id</a:t>
            </a:r>
            <a:endParaRPr lang="en-US" sz="1425" dirty="0"/>
          </a:p>
        </p:txBody>
      </p:sp>
      <p:sp>
        <p:nvSpPr>
          <p:cNvPr id="34" name="Shape 32"/>
          <p:cNvSpPr/>
          <p:nvPr/>
        </p:nvSpPr>
        <p:spPr>
          <a:xfrm>
            <a:off x="1951567" y="4029075"/>
            <a:ext cx="348589" cy="179917"/>
          </a:xfrm>
          <a:prstGeom prst="roundRect">
            <a:avLst>
              <a:gd name="adj" fmla="val 31765"/>
            </a:avLst>
          </a:prstGeom>
          <a:solidFill>
            <a:srgbClr val="E6B84B">
              <a:alpha val="16000"/>
            </a:srgbClr>
          </a:solidFill>
          <a:ln/>
        </p:spPr>
      </p:sp>
      <p:sp>
        <p:nvSpPr>
          <p:cNvPr id="35" name="Text 33"/>
          <p:cNvSpPr/>
          <p:nvPr/>
        </p:nvSpPr>
        <p:spPr>
          <a:xfrm>
            <a:off x="2027767"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36" name="Text 34"/>
          <p:cNvSpPr/>
          <p:nvPr/>
        </p:nvSpPr>
        <p:spPr>
          <a:xfrm>
            <a:off x="1056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trainer_id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37" name="Text 35"/>
          <p:cNvSpPr/>
          <p:nvPr/>
        </p:nvSpPr>
        <p:spPr>
          <a:xfrm>
            <a:off x="1056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title, capacity, room</a:t>
            </a:r>
            <a:endParaRPr lang="en-US" sz="1425" dirty="0"/>
          </a:p>
        </p:txBody>
      </p:sp>
      <p:sp>
        <p:nvSpPr>
          <p:cNvPr id="38" name="Shape 36"/>
          <p:cNvSpPr/>
          <p:nvPr/>
        </p:nvSpPr>
        <p:spPr>
          <a:xfrm>
            <a:off x="6445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39" name="Shape 37"/>
          <p:cNvSpPr/>
          <p:nvPr/>
        </p:nvSpPr>
        <p:spPr>
          <a:xfrm>
            <a:off x="6453717" y="3346450"/>
            <a:ext cx="5380567" cy="516467"/>
          </a:xfrm>
          <a:prstGeom prst="rect">
            <a:avLst/>
          </a:prstGeom>
          <a:solidFill>
            <a:srgbClr val="8F80FF">
              <a:alpha val="16000"/>
            </a:srgbClr>
          </a:solidFill>
          <a:ln/>
        </p:spPr>
      </p:sp>
      <p:sp>
        <p:nvSpPr>
          <p:cNvPr id="40" name="Text 38"/>
          <p:cNvSpPr/>
          <p:nvPr/>
        </p:nvSpPr>
        <p:spPr>
          <a:xfrm>
            <a:off x="6644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REGISTRATION</a:t>
            </a:r>
            <a:endParaRPr lang="en-US" sz="1650" dirty="0"/>
          </a:p>
        </p:txBody>
      </p:sp>
      <p:sp>
        <p:nvSpPr>
          <p:cNvPr id="41" name="Text 39"/>
          <p:cNvSpPr/>
          <p:nvPr/>
        </p:nvSpPr>
        <p:spPr>
          <a:xfrm>
            <a:off x="6644217" y="3996267"/>
            <a:ext cx="1641475"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registration_id</a:t>
            </a:r>
            <a:endParaRPr lang="en-US" sz="1425" dirty="0"/>
          </a:p>
        </p:txBody>
      </p:sp>
      <p:sp>
        <p:nvSpPr>
          <p:cNvPr id="42" name="Shape 40"/>
          <p:cNvSpPr/>
          <p:nvPr/>
        </p:nvSpPr>
        <p:spPr>
          <a:xfrm>
            <a:off x="8235950" y="4029075"/>
            <a:ext cx="348589" cy="179917"/>
          </a:xfrm>
          <a:prstGeom prst="roundRect">
            <a:avLst>
              <a:gd name="adj" fmla="val 31765"/>
            </a:avLst>
          </a:prstGeom>
          <a:solidFill>
            <a:srgbClr val="E6B84B">
              <a:alpha val="16000"/>
            </a:srgbClr>
          </a:solidFill>
          <a:ln/>
        </p:spPr>
      </p:sp>
      <p:sp>
        <p:nvSpPr>
          <p:cNvPr id="43" name="Text 41"/>
          <p:cNvSpPr/>
          <p:nvPr/>
        </p:nvSpPr>
        <p:spPr>
          <a:xfrm>
            <a:off x="8312150"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44" name="Text 42"/>
          <p:cNvSpPr/>
          <p:nvPr/>
        </p:nvSpPr>
        <p:spPr>
          <a:xfrm>
            <a:off x="6644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member_id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 </a:t>
            </a:r>
            <a:pPr algn="l" indent="0" marL="0">
              <a:buNone/>
            </a:pPr>
            <a:r>
              <a:rPr lang="en-US" sz="1425" dirty="0">
                <a:solidFill>
                  <a:srgbClr val="A7A6B6"/>
                </a:solidFill>
                <a:latin typeface="Courier New" pitchFamily="34" charset="0"/>
                <a:ea typeface="Courier New" pitchFamily="34" charset="-122"/>
                <a:cs typeface="Courier New" pitchFamily="34" charset="-120"/>
              </a:rPr>
              <a:t>schedule_id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45" name="Text 43"/>
          <p:cNvSpPr/>
          <p:nvPr/>
        </p:nvSpPr>
        <p:spPr>
          <a:xfrm>
            <a:off x="6644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booking_date, status</a:t>
            </a:r>
            <a:endParaRPr lang="en-US" sz="1425" dirty="0"/>
          </a:p>
        </p:txBody>
      </p:sp>
      <p:sp>
        <p:nvSpPr>
          <p:cNvPr id="46" name="Shape 44"/>
          <p:cNvSpPr/>
          <p:nvPr/>
        </p:nvSpPr>
        <p:spPr>
          <a:xfrm>
            <a:off x="12033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47" name="Shape 45"/>
          <p:cNvSpPr/>
          <p:nvPr/>
        </p:nvSpPr>
        <p:spPr>
          <a:xfrm>
            <a:off x="12041717" y="3346450"/>
            <a:ext cx="5380567" cy="516467"/>
          </a:xfrm>
          <a:prstGeom prst="rect">
            <a:avLst/>
          </a:prstGeom>
          <a:solidFill>
            <a:srgbClr val="8F80FF">
              <a:alpha val="16000"/>
            </a:srgbClr>
          </a:solidFill>
          <a:ln/>
        </p:spPr>
      </p:sp>
      <p:sp>
        <p:nvSpPr>
          <p:cNvPr id="48" name="Text 46"/>
          <p:cNvSpPr/>
          <p:nvPr/>
        </p:nvSpPr>
        <p:spPr>
          <a:xfrm>
            <a:off x="12232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PAYMENT</a:t>
            </a:r>
            <a:endParaRPr lang="en-US" sz="1650" dirty="0"/>
          </a:p>
        </p:txBody>
      </p:sp>
      <p:sp>
        <p:nvSpPr>
          <p:cNvPr id="49" name="Text 47"/>
          <p:cNvSpPr/>
          <p:nvPr/>
        </p:nvSpPr>
        <p:spPr>
          <a:xfrm>
            <a:off x="12232217" y="3996267"/>
            <a:ext cx="1071033"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payment_id</a:t>
            </a:r>
            <a:endParaRPr lang="en-US" sz="1425" dirty="0"/>
          </a:p>
        </p:txBody>
      </p:sp>
      <p:sp>
        <p:nvSpPr>
          <p:cNvPr id="50" name="Shape 48"/>
          <p:cNvSpPr/>
          <p:nvPr/>
        </p:nvSpPr>
        <p:spPr>
          <a:xfrm>
            <a:off x="13326533" y="4029075"/>
            <a:ext cx="348589" cy="179917"/>
          </a:xfrm>
          <a:prstGeom prst="roundRect">
            <a:avLst>
              <a:gd name="adj" fmla="val 31765"/>
            </a:avLst>
          </a:prstGeom>
          <a:solidFill>
            <a:srgbClr val="E6B84B">
              <a:alpha val="16000"/>
            </a:srgbClr>
          </a:solidFill>
          <a:ln/>
        </p:spPr>
      </p:sp>
      <p:sp>
        <p:nvSpPr>
          <p:cNvPr id="51" name="Text 49"/>
          <p:cNvSpPr/>
          <p:nvPr/>
        </p:nvSpPr>
        <p:spPr>
          <a:xfrm>
            <a:off x="13402733"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52" name="Text 50"/>
          <p:cNvSpPr/>
          <p:nvPr/>
        </p:nvSpPr>
        <p:spPr>
          <a:xfrm>
            <a:off x="12232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subscription_id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53" name="Text 51"/>
          <p:cNvSpPr/>
          <p:nvPr/>
        </p:nvSpPr>
        <p:spPr>
          <a:xfrm>
            <a:off x="12232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amount, method, paid_on</a:t>
            </a:r>
            <a:endParaRPr lang="en-US" sz="1425" dirty="0"/>
          </a:p>
        </p:txBody>
      </p:sp>
      <p:sp>
        <p:nvSpPr>
          <p:cNvPr id="54" name="Shape 52"/>
          <p:cNvSpPr/>
          <p:nvPr/>
        </p:nvSpPr>
        <p:spPr>
          <a:xfrm>
            <a:off x="857250" y="5135034"/>
            <a:ext cx="16573500" cy="863600"/>
          </a:xfrm>
          <a:prstGeom prst="roundRect">
            <a:avLst>
              <a:gd name="adj" fmla="val 15441"/>
            </a:avLst>
          </a:prstGeom>
          <a:solidFill>
            <a:srgbClr val="FFFFFF">
              <a:alpha val="2000"/>
            </a:srgbClr>
          </a:solidFill>
          <a:ln w="8467">
            <a:solidFill>
              <a:srgbClr val="FFFFFF">
                <a:alpha val="13000"/>
              </a:srgbClr>
            </a:solidFill>
            <a:prstDash val="solid"/>
          </a:ln>
        </p:spPr>
      </p:sp>
      <p:sp>
        <p:nvSpPr>
          <p:cNvPr id="55" name="Text 53"/>
          <p:cNvSpPr/>
          <p:nvPr/>
        </p:nvSpPr>
        <p:spPr>
          <a:xfrm>
            <a:off x="1151467" y="5359400"/>
            <a:ext cx="1544122" cy="241300"/>
          </a:xfrm>
          <a:prstGeom prst="rect">
            <a:avLst/>
          </a:prstGeom>
          <a:noFill/>
          <a:ln/>
        </p:spPr>
        <p:txBody>
          <a:bodyPr wrap="square" lIns="25400" tIns="25400" rIns="25400" bIns="25400" rtlCol="0" anchor="t">
            <a:normAutofit/>
          </a:bodyPr>
          <a:lstStyle/>
          <a:p>
            <a:pPr algn="l" indent="0" marL="0">
              <a:buNone/>
            </a:pPr>
            <a:r>
              <a:rPr lang="en-US" sz="1275" b="1" spc="153" kern="0" dirty="0">
                <a:solidFill>
                  <a:srgbClr val="E6B84B"/>
                </a:solidFill>
                <a:latin typeface="Inter" pitchFamily="34" charset="0"/>
                <a:ea typeface="Inter" pitchFamily="34" charset="-122"/>
                <a:cs typeface="Inter" pitchFamily="34" charset="-120"/>
              </a:rPr>
              <a:t>CONSTRAINTS</a:t>
            </a:r>
            <a:endParaRPr lang="en-US" sz="1275" dirty="0"/>
          </a:p>
        </p:txBody>
      </p:sp>
      <p:sp>
        <p:nvSpPr>
          <p:cNvPr id="56" name="Text 54"/>
          <p:cNvSpPr/>
          <p:nvPr/>
        </p:nvSpPr>
        <p:spPr>
          <a:xfrm>
            <a:off x="1151467" y="5334000"/>
            <a:ext cx="8620515" cy="503767"/>
          </a:xfrm>
          <a:prstGeom prst="rect">
            <a:avLst/>
          </a:prstGeom>
          <a:noFill/>
          <a:ln/>
        </p:spPr>
        <p:txBody>
          <a:bodyPr wrap="square" lIns="25400" tIns="25400" rIns="25400" bIns="25400" rtlCol="0" anchor="t">
            <a:normAutofit/>
          </a:bodyPr>
          <a:lstStyle/>
          <a:p>
            <a:pPr algn="l" indent="0" marL="0">
              <a:buNone/>
            </a:pPr>
            <a:r>
              <a:rPr lang="en-US" sz="1500" dirty="0">
                <a:solidFill>
                  <a:srgbClr val="A7A6B6"/>
                </a:solidFill>
                <a:latin typeface="Inter" pitchFamily="34" charset="0"/>
                <a:ea typeface="Inter" pitchFamily="34" charset="-122"/>
                <a:cs typeface="Inter" pitchFamily="34" charset="-120"/>
              </a:rPr>
              <a:t>PK · FK · UNIQUE(email, phone) · NOT NULL · CHECK(price ≥ 0, capacity &gt; 0, end_date &gt; start_date) · DEFAULT(status='ACTIVE')</a:t>
            </a:r>
            <a:endParaRPr lang="en-US" sz="1500" dirty="0"/>
          </a:p>
        </p:txBody>
      </p:sp>
      <p:sp>
        <p:nvSpPr>
          <p:cNvPr id="57" name="Shape 55"/>
          <p:cNvSpPr/>
          <p:nvPr/>
        </p:nvSpPr>
        <p:spPr>
          <a:xfrm>
            <a:off x="11333295" y="5452533"/>
            <a:ext cx="9525" cy="228600"/>
          </a:xfrm>
          <a:prstGeom prst="rect">
            <a:avLst/>
          </a:prstGeom>
          <a:solidFill>
            <a:srgbClr val="FFFFFF">
              <a:alpha val="13000"/>
            </a:srgbClr>
          </a:solidFill>
          <a:ln/>
        </p:spPr>
      </p:sp>
      <p:sp>
        <p:nvSpPr>
          <p:cNvPr id="58" name="Text 56"/>
          <p:cNvSpPr/>
          <p:nvPr/>
        </p:nvSpPr>
        <p:spPr>
          <a:xfrm>
            <a:off x="11627511" y="5477934"/>
            <a:ext cx="1408205" cy="241300"/>
          </a:xfrm>
          <a:prstGeom prst="rect">
            <a:avLst/>
          </a:prstGeom>
          <a:noFill/>
          <a:ln/>
        </p:spPr>
        <p:txBody>
          <a:bodyPr wrap="square" lIns="25400" tIns="25400" rIns="25400" bIns="25400" rtlCol="0" anchor="t">
            <a:normAutofit/>
          </a:bodyPr>
          <a:lstStyle/>
          <a:p>
            <a:pPr algn="l" indent="0" marL="0">
              <a:buNone/>
            </a:pPr>
            <a:r>
              <a:rPr lang="en-US" sz="1275" b="1" spc="153" kern="0" dirty="0">
                <a:solidFill>
                  <a:srgbClr val="E6B84B"/>
                </a:solidFill>
                <a:latin typeface="Inter" pitchFamily="34" charset="0"/>
                <a:ea typeface="Inter" pitchFamily="34" charset="-122"/>
                <a:cs typeface="Inter" pitchFamily="34" charset="-120"/>
              </a:rPr>
              <a:t>NORMALIZED</a:t>
            </a:r>
            <a:endParaRPr lang="en-US" sz="1275" dirty="0"/>
          </a:p>
        </p:txBody>
      </p:sp>
      <p:sp>
        <p:nvSpPr>
          <p:cNvPr id="59" name="Text 57"/>
          <p:cNvSpPr/>
          <p:nvPr/>
        </p:nvSpPr>
        <p:spPr>
          <a:xfrm>
            <a:off x="12950164" y="5452533"/>
            <a:ext cx="4605007" cy="266700"/>
          </a:xfrm>
          <a:prstGeom prst="rect">
            <a:avLst/>
          </a:prstGeom>
          <a:noFill/>
          <a:ln/>
        </p:spPr>
        <p:txBody>
          <a:bodyPr wrap="square" lIns="25400" tIns="25400" rIns="25400" bIns="25400" rtlCol="0" anchor="t">
            <a:normAutofit/>
          </a:bodyPr>
          <a:lstStyle/>
          <a:p>
            <a:pPr algn="l" indent="0" marL="0">
              <a:buNone/>
            </a:pPr>
            <a:r>
              <a:rPr lang="en-US" sz="1500" dirty="0">
                <a:solidFill>
                  <a:srgbClr val="A7A6B6"/>
                </a:solidFill>
                <a:latin typeface="Inter" pitchFamily="34" charset="0"/>
                <a:ea typeface="Inter" pitchFamily="34" charset="-122"/>
                <a:cs typeface="Inter" pitchFamily="34" charset="-120"/>
              </a:rPr>
              <a:t>to 3NF — no partial or transitive dependencies</a:t>
            </a:r>
            <a:endParaRPr lang="en-US" sz="1500" dirty="0"/>
          </a:p>
        </p:txBody>
      </p:sp>
      <p:sp>
        <p:nvSpPr>
          <p:cNvPr id="60" name="Text 58"/>
          <p:cNvSpPr/>
          <p:nvPr/>
        </p:nvSpPr>
        <p:spPr>
          <a:xfrm>
            <a:off x="857250" y="6131983"/>
            <a:ext cx="18230850" cy="249767"/>
          </a:xfrm>
          <a:prstGeom prst="rect">
            <a:avLst/>
          </a:prstGeom>
          <a:noFill/>
          <a:ln/>
        </p:spPr>
        <p:txBody>
          <a:bodyPr wrap="square" lIns="25400" tIns="25400" rIns="25400" bIns="25400" rtlCol="0" anchor="t">
            <a:normAutofit/>
          </a:bodyPr>
          <a:lstStyle/>
          <a:p>
            <a:pPr algn="l" indent="0" marL="0">
              <a:buNone/>
            </a:pPr>
            <a:r>
              <a:rPr lang="en-US" sz="1350" dirty="0">
                <a:solidFill>
                  <a:srgbClr val="7D7C8C"/>
                </a:solidFill>
                <a:latin typeface="Inter" pitchFamily="34" charset="0"/>
                <a:ea typeface="Inter" pitchFamily="34" charset="-122"/>
                <a:cs typeface="Inter" pitchFamily="34" charset="-120"/>
              </a:rPr>
              <a:t>+ Trainer, Assessment, Schedule, Attendance, Equipment, Maintenance, Renewal and Workout_Programme tables follow the same key pattern.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2000"/>
                </a:srgbClr>
              </a:gs>
              <a:gs pos="66000">
                <a:srgbClr val="825FFF">
                  <a:alpha val="0"/>
                </a:srgbClr>
              </a:gs>
            </a:gsLst>
            <a:path path="circle">
              <a:fillToRect l="18000" t="22000" r="82000" b="78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3749146"/>
            <a:ext cx="17769840" cy="283633"/>
          </a:xfrm>
          <a:prstGeom prst="rect">
            <a:avLst/>
          </a:prstGeom>
          <a:noFill/>
          <a:ln/>
        </p:spPr>
        <p:txBody>
          <a:bodyPr wrap="square" lIns="25400" tIns="25400" rIns="25400" bIns="25400" rtlCol="0" anchor="t">
            <a:normAutofit/>
          </a:bodyPr>
          <a:lstStyle/>
          <a:p>
            <a:pPr algn="l" indent="0" marL="0">
              <a:buNone/>
            </a:pPr>
            <a:r>
              <a:rPr lang="en-US" sz="1575" b="1" spc="410" kern="0" dirty="0">
                <a:solidFill>
                  <a:srgbClr val="CFC9FF"/>
                </a:solidFill>
                <a:latin typeface="Inter" pitchFamily="34" charset="0"/>
                <a:ea typeface="Inter" pitchFamily="34" charset="-122"/>
                <a:cs typeface="Inter" pitchFamily="34" charset="-120"/>
              </a:rPr>
              <a:t>REVIEW 1 · CONCEPTUAL DESIGN COMPLETE</a:t>
            </a:r>
            <a:endParaRPr lang="en-US" sz="1575" dirty="0"/>
          </a:p>
        </p:txBody>
      </p:sp>
      <p:sp>
        <p:nvSpPr>
          <p:cNvPr id="5" name="Text 3"/>
          <p:cNvSpPr/>
          <p:nvPr/>
        </p:nvSpPr>
        <p:spPr>
          <a:xfrm>
            <a:off x="1066800" y="4204229"/>
            <a:ext cx="17769840" cy="1381125"/>
          </a:xfrm>
          <a:prstGeom prst="rect">
            <a:avLst/>
          </a:prstGeom>
          <a:noFill/>
          <a:ln/>
        </p:spPr>
        <p:txBody>
          <a:bodyPr wrap="square" lIns="25400" tIns="25400" rIns="25400" bIns="25400" rtlCol="0" anchor="t">
            <a:normAutofit/>
          </a:bodyPr>
          <a:lstStyle/>
          <a:p>
            <a:pPr algn="l" indent="0" marL="0">
              <a:lnSpc>
                <a:spcPct val="69572"/>
              </a:lnSpc>
              <a:buNone/>
            </a:pPr>
            <a:r>
              <a:rPr lang="en-US" sz="11250" b="1" spc="-225" kern="0" dirty="0">
                <a:solidFill>
                  <a:srgbClr val="F3F0E7"/>
                </a:solidFill>
                <a:latin typeface="Archivo Black" pitchFamily="34" charset="0"/>
                <a:ea typeface="Archivo Black" pitchFamily="34" charset="-122"/>
                <a:cs typeface="Archivo Black" pitchFamily="34" charset="-120"/>
              </a:rPr>
              <a:t>Thank You</a:t>
            </a:r>
            <a:endParaRPr lang="en-US" sz="11250" dirty="0"/>
          </a:p>
        </p:txBody>
      </p:sp>
      <p:sp>
        <p:nvSpPr>
          <p:cNvPr id="6" name="Shape 4"/>
          <p:cNvSpPr/>
          <p:nvPr/>
        </p:nvSpPr>
        <p:spPr>
          <a:xfrm>
            <a:off x="1066800" y="6118754"/>
            <a:ext cx="419100" cy="419100"/>
          </a:xfrm>
          <a:prstGeom prst="ellipse">
            <a:avLst/>
          </a:prstGeom>
          <a:ln w="8467">
            <a:solidFill>
              <a:srgbClr val="E6B84B"/>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71575" y="6223529"/>
            <a:ext cx="209550" cy="209550"/>
          </a:xfrm>
          <a:prstGeom prst="rect">
            <a:avLst/>
          </a:prstGeom>
        </p:spPr>
      </p:pic>
      <p:sp>
        <p:nvSpPr>
          <p:cNvPr id="8" name="Text 5"/>
          <p:cNvSpPr/>
          <p:nvPr/>
        </p:nvSpPr>
        <p:spPr>
          <a:xfrm>
            <a:off x="1638300" y="6154738"/>
            <a:ext cx="2510380"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Aryan Baswapur</a:t>
            </a:r>
            <a:endParaRPr lang="en-US" sz="2250" dirty="0"/>
          </a:p>
        </p:txBody>
      </p:sp>
      <p:sp>
        <p:nvSpPr>
          <p:cNvPr id="9" name="Shape 6"/>
          <p:cNvSpPr/>
          <p:nvPr/>
        </p:nvSpPr>
        <p:spPr>
          <a:xfrm>
            <a:off x="4339564" y="6118754"/>
            <a:ext cx="419100" cy="419100"/>
          </a:xfrm>
          <a:prstGeom prst="ellipse">
            <a:avLst/>
          </a:prstGeom>
          <a:ln w="8467">
            <a:solidFill>
              <a:srgbClr val="E6B84B"/>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44339" y="6223529"/>
            <a:ext cx="209550" cy="209550"/>
          </a:xfrm>
          <a:prstGeom prst="rect">
            <a:avLst/>
          </a:prstGeom>
        </p:spPr>
      </p:pic>
      <p:sp>
        <p:nvSpPr>
          <p:cNvPr id="11" name="Text 7"/>
          <p:cNvSpPr/>
          <p:nvPr/>
        </p:nvSpPr>
        <p:spPr>
          <a:xfrm>
            <a:off x="4911064" y="6154738"/>
            <a:ext cx="2028851"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Roll No. 3007</a:t>
            </a:r>
            <a:endParaRPr lang="en-US" sz="2250" dirty="0"/>
          </a:p>
        </p:txBody>
      </p:sp>
      <p:sp>
        <p:nvSpPr>
          <p:cNvPr id="12" name="Shape 8"/>
          <p:cNvSpPr/>
          <p:nvPr/>
        </p:nvSpPr>
        <p:spPr>
          <a:xfrm>
            <a:off x="7174574" y="6118754"/>
            <a:ext cx="419100" cy="419100"/>
          </a:xfrm>
          <a:prstGeom prst="ellipse">
            <a:avLst/>
          </a:prstGeom>
          <a:ln w="8467">
            <a:solidFill>
              <a:srgbClr val="E6B84B"/>
            </a:solidFill>
            <a:prstDash val="solid"/>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9349" y="6223529"/>
            <a:ext cx="209550" cy="209550"/>
          </a:xfrm>
          <a:prstGeom prst="rect">
            <a:avLst/>
          </a:prstGeom>
        </p:spPr>
      </p:pic>
      <p:sp>
        <p:nvSpPr>
          <p:cNvPr id="14" name="Text 9"/>
          <p:cNvSpPr/>
          <p:nvPr/>
        </p:nvSpPr>
        <p:spPr>
          <a:xfrm>
            <a:off x="7746074" y="6154738"/>
            <a:ext cx="3382632"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Section BIC-Tigers-29</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2026-08-25T18:14:05Z</dcterms:created>
  <dcterms:modified xsi:type="dcterms:W3CDTF">2026-08-25T18:14:05Z</dcterms:modified>
</cp:coreProperties>
</file>